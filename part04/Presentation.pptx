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70" r:id="rId13"/>
    <p:sldId id="268" r:id="rId14"/>
    <p:sldId id="269" r:id="rId1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05AB2E-0C2E-C3F9-1137-5C9A004B268C}" v="58" dt="2026-04-02T21:54:52.403"/>
    <p1510:client id="{9E6D4F1A-80F7-2FF3-C6C6-147EE5F3A45D}" v="2" dt="2026-04-02T21:52:46.966"/>
    <p1510:client id="{B8A9627A-C4CC-6AD9-9E64-3D12027ECE56}" v="62" dt="2026-04-01T22:49:15.2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02/04/2026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02/04/2026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02/04/2026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02/04/2026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02/04/2026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02/04/2026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02/04/2026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02/04/2026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02/04/2026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02/04/2026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02/04/2026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02/04/2026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026693" y="1030406"/>
            <a:ext cx="8147713" cy="3081242"/>
          </a:xfrm>
        </p:spPr>
        <p:txBody>
          <a:bodyPr anchor="ctr">
            <a:normAutofit/>
          </a:bodyPr>
          <a:lstStyle/>
          <a:p>
            <a:r>
              <a:rPr lang="es-ES" sz="4800">
                <a:solidFill>
                  <a:srgbClr val="FFFFFF"/>
                </a:solidFill>
                <a:latin typeface="Aptos Display"/>
              </a:rPr>
              <a:t>SingleStore: Distributed SQL for the Real-Time Enterprise</a:t>
            </a:r>
          </a:p>
          <a:p>
            <a:endParaRPr lang="es-ES" sz="4800">
              <a:solidFill>
                <a:srgbClr val="FFFFFF"/>
              </a:solidFill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59943" y="5171093"/>
            <a:ext cx="9078628" cy="8606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>
                <a:solidFill>
                  <a:srgbClr val="FFFFFF"/>
                </a:solidFill>
                <a:latin typeface="Aptos"/>
              </a:rPr>
              <a:t>ISM 6562 — Midterm Part 4 | Alpha Developers</a:t>
            </a:r>
          </a:p>
          <a:p>
            <a:endParaRPr lang="es-ES">
              <a:solidFill>
                <a:srgbClr val="FFFFFF"/>
              </a:solidFill>
            </a:endParaRPr>
          </a:p>
          <a:p>
            <a:endParaRPr lang="es-E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51D367A-C3A9-BC3E-D993-FC0CB2D87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170" y="1138648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s-ES" sz="6000" b="1">
                <a:solidFill>
                  <a:schemeClr val="bg1"/>
                </a:solidFill>
                <a:latin typeface="Menlo"/>
              </a:rPr>
              <a:t>AGENDA</a:t>
            </a:r>
            <a:endParaRPr lang="es-ES" sz="6000">
              <a:solidFill>
                <a:schemeClr val="bg1"/>
              </a:solidFill>
            </a:endParaRPr>
          </a:p>
          <a:p>
            <a:pPr algn="r"/>
            <a:endParaRPr lang="es-ES" sz="4000">
              <a:solidFill>
                <a:srgbClr val="FFFFFF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6DE8A3B-509F-1679-AC17-F4C99D533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s-ES" sz="1600" b="1" err="1">
                <a:latin typeface="Aptos"/>
              </a:rPr>
              <a:t>What</a:t>
            </a:r>
            <a:r>
              <a:rPr lang="es-ES" sz="1600" b="1">
                <a:latin typeface="Aptos"/>
              </a:rPr>
              <a:t> </a:t>
            </a:r>
            <a:r>
              <a:rPr lang="es-ES" sz="1600" b="1" err="1">
                <a:latin typeface="Aptos"/>
              </a:rPr>
              <a:t>We'll</a:t>
            </a:r>
            <a:r>
              <a:rPr lang="es-ES" sz="1600" b="1">
                <a:latin typeface="Aptos"/>
              </a:rPr>
              <a:t> </a:t>
            </a:r>
            <a:r>
              <a:rPr lang="es-ES" sz="1600" b="1" err="1">
                <a:latin typeface="Aptos"/>
              </a:rPr>
              <a:t>Cover</a:t>
            </a:r>
            <a:r>
              <a:rPr lang="es-ES" sz="1600" b="1">
                <a:latin typeface="Aptos"/>
              </a:rPr>
              <a:t>?</a:t>
            </a:r>
            <a:br>
              <a:rPr lang="en-US" sz="3600"/>
            </a:br>
            <a:endParaRPr lang="en-US" sz="3600">
              <a:latin typeface="Aptos"/>
            </a:endParaRPr>
          </a:p>
          <a:p>
            <a:r>
              <a:rPr lang="es-ES" sz="1800" err="1">
                <a:latin typeface="Aptos"/>
              </a:rPr>
              <a:t>What</a:t>
            </a:r>
            <a:r>
              <a:rPr lang="es-ES" sz="1800">
                <a:latin typeface="Aptos"/>
              </a:rPr>
              <a:t> </a:t>
            </a:r>
            <a:r>
              <a:rPr lang="es-ES" sz="1800" err="1">
                <a:latin typeface="Aptos"/>
              </a:rPr>
              <a:t>is</a:t>
            </a:r>
            <a:r>
              <a:rPr lang="es-ES" sz="1800">
                <a:latin typeface="Aptos"/>
              </a:rPr>
              <a:t> </a:t>
            </a:r>
            <a:r>
              <a:rPr lang="es-ES" sz="1800" err="1">
                <a:latin typeface="Aptos"/>
              </a:rPr>
              <a:t>SingleStore</a:t>
            </a:r>
            <a:r>
              <a:rPr lang="es-ES" sz="1800">
                <a:latin typeface="Aptos"/>
              </a:rPr>
              <a:t>?</a:t>
            </a:r>
          </a:p>
          <a:p>
            <a:r>
              <a:rPr lang="es-ES" sz="1800">
                <a:latin typeface="Aptos"/>
              </a:rPr>
              <a:t>Who </a:t>
            </a:r>
            <a:r>
              <a:rPr lang="es-ES" sz="1800" err="1">
                <a:latin typeface="Aptos"/>
              </a:rPr>
              <a:t>built</a:t>
            </a:r>
            <a:r>
              <a:rPr lang="es-ES" sz="1800">
                <a:latin typeface="Aptos"/>
              </a:rPr>
              <a:t> </a:t>
            </a:r>
            <a:r>
              <a:rPr lang="es-ES" sz="1800" err="1">
                <a:latin typeface="Aptos"/>
              </a:rPr>
              <a:t>it</a:t>
            </a:r>
            <a:r>
              <a:rPr lang="es-ES" sz="1800">
                <a:latin typeface="Aptos"/>
              </a:rPr>
              <a:t> — and </a:t>
            </a:r>
            <a:r>
              <a:rPr lang="es-ES" sz="1800" err="1">
                <a:latin typeface="Aptos"/>
              </a:rPr>
              <a:t>who</a:t>
            </a:r>
            <a:r>
              <a:rPr lang="es-ES" sz="1800">
                <a:latin typeface="Aptos"/>
              </a:rPr>
              <a:t> uses </a:t>
            </a:r>
            <a:r>
              <a:rPr lang="es-ES" sz="1800" err="1">
                <a:latin typeface="Aptos"/>
              </a:rPr>
              <a:t>it</a:t>
            </a:r>
            <a:endParaRPr lang="es-ES" sz="1800">
              <a:latin typeface="Aptos"/>
            </a:endParaRPr>
          </a:p>
          <a:p>
            <a:r>
              <a:rPr lang="es-ES" sz="1800" err="1">
                <a:latin typeface="Aptos"/>
              </a:rPr>
              <a:t>Distributed</a:t>
            </a:r>
            <a:r>
              <a:rPr lang="es-ES" sz="1800">
                <a:latin typeface="Aptos"/>
              </a:rPr>
              <a:t> </a:t>
            </a:r>
            <a:r>
              <a:rPr lang="es-ES" sz="1800" err="1">
                <a:latin typeface="Aptos"/>
              </a:rPr>
              <a:t>architecture</a:t>
            </a:r>
            <a:r>
              <a:rPr lang="es-ES" sz="1800">
                <a:latin typeface="Aptos"/>
              </a:rPr>
              <a:t> &amp; </a:t>
            </a:r>
            <a:r>
              <a:rPr lang="es-ES" sz="1800" err="1">
                <a:latin typeface="Aptos"/>
              </a:rPr>
              <a:t>sharding</a:t>
            </a:r>
            <a:endParaRPr lang="es-ES" sz="1800">
              <a:latin typeface="Aptos"/>
            </a:endParaRPr>
          </a:p>
          <a:p>
            <a:r>
              <a:rPr lang="es-ES" sz="1800">
                <a:latin typeface="Aptos"/>
              </a:rPr>
              <a:t>CAP </a:t>
            </a:r>
            <a:r>
              <a:rPr lang="es-ES" sz="1800" err="1">
                <a:latin typeface="Aptos"/>
              </a:rPr>
              <a:t>Theorem</a:t>
            </a:r>
            <a:r>
              <a:rPr lang="es-ES" sz="1800">
                <a:latin typeface="Aptos"/>
              </a:rPr>
              <a:t> </a:t>
            </a:r>
            <a:r>
              <a:rPr lang="es-ES" sz="1800" err="1">
                <a:latin typeface="Aptos"/>
              </a:rPr>
              <a:t>positioning</a:t>
            </a:r>
            <a:endParaRPr lang="es-ES" sz="1800">
              <a:latin typeface="Aptos"/>
            </a:endParaRPr>
          </a:p>
          <a:p>
            <a:r>
              <a:rPr lang="es-ES" sz="1800">
                <a:latin typeface="Aptos"/>
              </a:rPr>
              <a:t>HTAP: OLTP + OLAP in </a:t>
            </a:r>
            <a:r>
              <a:rPr lang="es-ES" sz="1800" err="1">
                <a:latin typeface="Aptos"/>
              </a:rPr>
              <a:t>one</a:t>
            </a:r>
            <a:r>
              <a:rPr lang="es-ES" sz="1800">
                <a:latin typeface="Aptos"/>
              </a:rPr>
              <a:t> </a:t>
            </a:r>
            <a:r>
              <a:rPr lang="es-ES" sz="1800" err="1">
                <a:latin typeface="Aptos"/>
              </a:rPr>
              <a:t>system</a:t>
            </a:r>
            <a:endParaRPr lang="es-ES" sz="1800">
              <a:latin typeface="Aptos"/>
            </a:endParaRPr>
          </a:p>
          <a:p>
            <a:r>
              <a:rPr lang="es-ES" sz="1800">
                <a:latin typeface="Aptos"/>
              </a:rPr>
              <a:t>Pros &amp; </a:t>
            </a:r>
            <a:r>
              <a:rPr lang="es-ES" sz="1800" err="1">
                <a:latin typeface="Aptos"/>
              </a:rPr>
              <a:t>cons</a:t>
            </a:r>
            <a:endParaRPr lang="es-ES" sz="1800">
              <a:latin typeface="Aptos"/>
            </a:endParaRPr>
          </a:p>
          <a:p>
            <a:r>
              <a:rPr lang="es-ES" sz="1800" err="1">
                <a:latin typeface="Aptos"/>
              </a:rPr>
              <a:t>SingleStore</a:t>
            </a:r>
            <a:r>
              <a:rPr lang="es-ES" sz="1800">
                <a:latin typeface="Aptos"/>
              </a:rPr>
              <a:t> in </a:t>
            </a:r>
            <a:r>
              <a:rPr lang="es-ES" sz="1800" err="1">
                <a:latin typeface="Aptos"/>
              </a:rPr>
              <a:t>TechRetail</a:t>
            </a:r>
            <a:endParaRPr lang="es-ES" sz="1800">
              <a:latin typeface="Aptos"/>
            </a:endParaRPr>
          </a:p>
          <a:p>
            <a:r>
              <a:rPr lang="es-ES" sz="1800">
                <a:latin typeface="Aptos"/>
              </a:rPr>
              <a:t>Q&amp;A</a:t>
            </a:r>
          </a:p>
          <a:p>
            <a:endParaRPr lang="es-ES" sz="2000"/>
          </a:p>
        </p:txBody>
      </p:sp>
    </p:spTree>
    <p:extLst>
      <p:ext uri="{BB962C8B-B14F-4D97-AF65-F5344CB8AC3E}">
        <p14:creationId xmlns:p14="http://schemas.microsoft.com/office/powerpoint/2010/main" val="2442459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4" descr="Habitación con servidores iluminados">
            <a:extLst>
              <a:ext uri="{FF2B5EF4-FFF2-40B4-BE49-F238E27FC236}">
                <a16:creationId xmlns:a16="http://schemas.microsoft.com/office/drawing/2014/main" id="{C90FCBCE-E4EE-D2CF-6110-7B6362BE07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516" r="27218" b="-1"/>
          <a:stretch>
            <a:fillRect/>
          </a:stretch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 useBgFill="1">
        <p:nvSpPr>
          <p:cNvPr id="61" name="Rectangle 56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8C30341-B745-2C95-DD03-9F85EE839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28512"/>
            <a:ext cx="4778387" cy="1628970"/>
          </a:xfrm>
        </p:spPr>
        <p:txBody>
          <a:bodyPr anchor="ctr">
            <a:normAutofit/>
          </a:bodyPr>
          <a:lstStyle/>
          <a:p>
            <a:r>
              <a:rPr lang="es-ES" sz="4000" i="1" err="1">
                <a:ea typeface="+mj-lt"/>
                <a:cs typeface="+mj-lt"/>
              </a:rPr>
              <a:t>What</a:t>
            </a:r>
            <a:r>
              <a:rPr lang="es-ES" sz="4000" i="1">
                <a:ea typeface="+mj-lt"/>
                <a:cs typeface="+mj-lt"/>
              </a:rPr>
              <a:t> </a:t>
            </a:r>
            <a:r>
              <a:rPr lang="es-ES" sz="4000" i="1" err="1">
                <a:ea typeface="+mj-lt"/>
                <a:cs typeface="+mj-lt"/>
              </a:rPr>
              <a:t>is</a:t>
            </a:r>
            <a:r>
              <a:rPr lang="es-ES" sz="4000" i="1">
                <a:ea typeface="+mj-lt"/>
                <a:cs typeface="+mj-lt"/>
              </a:rPr>
              <a:t> </a:t>
            </a:r>
            <a:r>
              <a:rPr lang="es-ES" sz="4000" i="1" err="1">
                <a:ea typeface="+mj-lt"/>
                <a:cs typeface="+mj-lt"/>
              </a:rPr>
              <a:t>SingleStore</a:t>
            </a:r>
            <a:r>
              <a:rPr lang="es-ES" sz="4000" i="1">
                <a:ea typeface="+mj-lt"/>
                <a:cs typeface="+mj-lt"/>
              </a:rPr>
              <a:t>?</a:t>
            </a:r>
            <a:endParaRPr lang="es-ES" sz="4000">
              <a:ea typeface="+mj-lt"/>
              <a:cs typeface="+mj-lt"/>
            </a:endParaRPr>
          </a:p>
        </p:txBody>
      </p:sp>
      <p:sp>
        <p:nvSpPr>
          <p:cNvPr id="27" name="Marcador de contenido 2">
            <a:extLst>
              <a:ext uri="{FF2B5EF4-FFF2-40B4-BE49-F238E27FC236}">
                <a16:creationId xmlns:a16="http://schemas.microsoft.com/office/drawing/2014/main" id="{F5CC8197-936B-09D0-4CF7-2DCE3DF4E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1" y="2884929"/>
            <a:ext cx="5185273" cy="337413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Arial"/>
              <a:buChar char="•"/>
            </a:pPr>
            <a:r>
              <a:rPr lang="es-ES" sz="1600" b="1" err="1">
                <a:ea typeface="+mn-lt"/>
                <a:cs typeface="+mn-lt"/>
              </a:rPr>
              <a:t>Distributed</a:t>
            </a:r>
            <a:r>
              <a:rPr lang="es-ES" sz="1600" b="1">
                <a:ea typeface="+mn-lt"/>
                <a:cs typeface="+mn-lt"/>
              </a:rPr>
              <a:t> </a:t>
            </a:r>
            <a:r>
              <a:rPr lang="es-ES" sz="1600" b="1" err="1">
                <a:ea typeface="+mn-lt"/>
                <a:cs typeface="+mn-lt"/>
              </a:rPr>
              <a:t>relational</a:t>
            </a:r>
            <a:r>
              <a:rPr lang="es-ES" sz="1600" b="1">
                <a:ea typeface="+mn-lt"/>
                <a:cs typeface="+mn-lt"/>
              </a:rPr>
              <a:t> </a:t>
            </a:r>
            <a:r>
              <a:rPr lang="es-ES" sz="1600" b="1" err="1">
                <a:ea typeface="+mn-lt"/>
                <a:cs typeface="+mn-lt"/>
              </a:rPr>
              <a:t>database</a:t>
            </a:r>
            <a:r>
              <a:rPr lang="es-ES" sz="1600">
                <a:ea typeface="+mn-lt"/>
                <a:cs typeface="+mn-lt"/>
              </a:rPr>
              <a:t> </a:t>
            </a:r>
            <a:r>
              <a:rPr lang="es-ES" sz="1600" err="1">
                <a:ea typeface="+mn-lt"/>
                <a:cs typeface="+mn-lt"/>
              </a:rPr>
              <a:t>for</a:t>
            </a:r>
            <a:r>
              <a:rPr lang="es-ES" sz="1600">
                <a:ea typeface="+mn-lt"/>
                <a:cs typeface="+mn-lt"/>
              </a:rPr>
              <a:t> real-time data and </a:t>
            </a:r>
            <a:r>
              <a:rPr lang="es-ES" sz="1600" err="1">
                <a:ea typeface="+mn-lt"/>
                <a:cs typeface="+mn-lt"/>
              </a:rPr>
              <a:t>analytics</a:t>
            </a:r>
            <a:endParaRPr lang="es-ES" sz="1600" err="1"/>
          </a:p>
          <a:p>
            <a:pPr>
              <a:buFont typeface="Arial"/>
              <a:buChar char="•"/>
            </a:pPr>
            <a:r>
              <a:rPr lang="es-ES" sz="1600" err="1">
                <a:ea typeface="+mn-lt"/>
                <a:cs typeface="+mn-lt"/>
              </a:rPr>
              <a:t>Supports</a:t>
            </a:r>
            <a:r>
              <a:rPr lang="es-ES" sz="1600">
                <a:ea typeface="+mn-lt"/>
                <a:cs typeface="+mn-lt"/>
              </a:rPr>
              <a:t> </a:t>
            </a:r>
            <a:r>
              <a:rPr lang="es-ES" sz="1600" err="1">
                <a:ea typeface="+mn-lt"/>
                <a:cs typeface="+mn-lt"/>
              </a:rPr>
              <a:t>both</a:t>
            </a:r>
            <a:r>
              <a:rPr lang="es-ES" sz="1600">
                <a:ea typeface="+mn-lt"/>
                <a:cs typeface="+mn-lt"/>
              </a:rPr>
              <a:t> </a:t>
            </a:r>
            <a:r>
              <a:rPr lang="es-ES" sz="1600" b="1">
                <a:ea typeface="+mn-lt"/>
                <a:cs typeface="+mn-lt"/>
              </a:rPr>
              <a:t>OLTP + OLAP</a:t>
            </a:r>
            <a:r>
              <a:rPr lang="es-ES" sz="1600">
                <a:ea typeface="+mn-lt"/>
                <a:cs typeface="+mn-lt"/>
              </a:rPr>
              <a:t> in </a:t>
            </a:r>
            <a:r>
              <a:rPr lang="es-ES" sz="1600" err="1">
                <a:ea typeface="+mn-lt"/>
                <a:cs typeface="+mn-lt"/>
              </a:rPr>
              <a:t>one</a:t>
            </a:r>
            <a:r>
              <a:rPr lang="es-ES" sz="1600">
                <a:ea typeface="+mn-lt"/>
                <a:cs typeface="+mn-lt"/>
              </a:rPr>
              <a:t> </a:t>
            </a:r>
            <a:r>
              <a:rPr lang="es-ES" sz="1600" err="1">
                <a:ea typeface="+mn-lt"/>
                <a:cs typeface="+mn-lt"/>
              </a:rPr>
              <a:t>engine</a:t>
            </a:r>
            <a:r>
              <a:rPr lang="es-ES" sz="1600">
                <a:ea typeface="+mn-lt"/>
                <a:cs typeface="+mn-lt"/>
              </a:rPr>
              <a:t> (</a:t>
            </a:r>
            <a:r>
              <a:rPr lang="es-ES" sz="1600" b="1">
                <a:ea typeface="+mn-lt"/>
                <a:cs typeface="+mn-lt"/>
              </a:rPr>
              <a:t>HTAP</a:t>
            </a:r>
            <a:r>
              <a:rPr lang="es-ES" sz="1600">
                <a:ea typeface="+mn-lt"/>
                <a:cs typeface="+mn-lt"/>
              </a:rPr>
              <a:t>)</a:t>
            </a:r>
            <a:endParaRPr lang="es-ES" sz="1600"/>
          </a:p>
          <a:p>
            <a:pPr>
              <a:buFont typeface="Arial"/>
              <a:buChar char="•"/>
            </a:pPr>
            <a:r>
              <a:rPr lang="es-ES" sz="1600" b="1">
                <a:ea typeface="+mn-lt"/>
                <a:cs typeface="+mn-lt"/>
              </a:rPr>
              <a:t>MySQL compatible</a:t>
            </a:r>
            <a:r>
              <a:rPr lang="es-ES" sz="1600">
                <a:ea typeface="+mn-lt"/>
                <a:cs typeface="+mn-lt"/>
              </a:rPr>
              <a:t> — </a:t>
            </a:r>
            <a:r>
              <a:rPr lang="es-ES" sz="1600" err="1">
                <a:ea typeface="+mn-lt"/>
                <a:cs typeface="+mn-lt"/>
              </a:rPr>
              <a:t>works</a:t>
            </a:r>
            <a:r>
              <a:rPr lang="es-ES" sz="1600">
                <a:ea typeface="+mn-lt"/>
                <a:cs typeface="+mn-lt"/>
              </a:rPr>
              <a:t> </a:t>
            </a:r>
            <a:r>
              <a:rPr lang="es-ES" sz="1600" err="1">
                <a:ea typeface="+mn-lt"/>
                <a:cs typeface="+mn-lt"/>
              </a:rPr>
              <a:t>with</a:t>
            </a:r>
            <a:r>
              <a:rPr lang="es-ES" sz="1600">
                <a:ea typeface="+mn-lt"/>
                <a:cs typeface="+mn-lt"/>
              </a:rPr>
              <a:t> </a:t>
            </a:r>
            <a:r>
              <a:rPr lang="es-ES" sz="1600" err="1">
                <a:ea typeface="+mn-lt"/>
                <a:cs typeface="+mn-lt"/>
              </a:rPr>
              <a:t>existing</a:t>
            </a:r>
            <a:r>
              <a:rPr lang="es-ES" sz="1600">
                <a:ea typeface="+mn-lt"/>
                <a:cs typeface="+mn-lt"/>
              </a:rPr>
              <a:t> </a:t>
            </a:r>
            <a:r>
              <a:rPr lang="es-ES" sz="1600" err="1">
                <a:ea typeface="+mn-lt"/>
                <a:cs typeface="+mn-lt"/>
              </a:rPr>
              <a:t>tools</a:t>
            </a:r>
            <a:endParaRPr lang="es-ES" sz="1600" err="1"/>
          </a:p>
          <a:p>
            <a:pPr marL="0" indent="0">
              <a:buNone/>
            </a:pPr>
            <a:r>
              <a:rPr lang="es-ES" sz="1600">
                <a:ea typeface="+mn-lt"/>
                <a:cs typeface="+mn-lt"/>
              </a:rPr>
              <a:t>Dual </a:t>
            </a:r>
            <a:r>
              <a:rPr lang="es-ES" sz="1600" err="1">
                <a:ea typeface="+mn-lt"/>
                <a:cs typeface="+mn-lt"/>
              </a:rPr>
              <a:t>storage</a:t>
            </a:r>
            <a:r>
              <a:rPr lang="es-ES" sz="1600">
                <a:ea typeface="+mn-lt"/>
                <a:cs typeface="+mn-lt"/>
              </a:rPr>
              <a:t> </a:t>
            </a:r>
            <a:r>
              <a:rPr lang="es-ES" sz="1600" err="1">
                <a:ea typeface="+mn-lt"/>
                <a:cs typeface="+mn-lt"/>
              </a:rPr>
              <a:t>engine</a:t>
            </a:r>
            <a:r>
              <a:rPr lang="es-ES" sz="1600">
                <a:ea typeface="+mn-lt"/>
                <a:cs typeface="+mn-lt"/>
              </a:rPr>
              <a:t>:</a:t>
            </a:r>
            <a:endParaRPr lang="es-ES" sz="1600"/>
          </a:p>
          <a:p>
            <a:pPr>
              <a:buFont typeface="Arial"/>
              <a:buChar char="•"/>
            </a:pPr>
            <a:r>
              <a:rPr lang="es-ES" sz="1600" b="1" err="1">
                <a:ea typeface="+mn-lt"/>
                <a:cs typeface="+mn-lt"/>
              </a:rPr>
              <a:t>Rowstore</a:t>
            </a:r>
            <a:r>
              <a:rPr lang="es-ES" sz="1600">
                <a:ea typeface="+mn-lt"/>
                <a:cs typeface="+mn-lt"/>
              </a:rPr>
              <a:t> → </a:t>
            </a:r>
            <a:r>
              <a:rPr lang="es-ES" sz="1600" err="1">
                <a:ea typeface="+mn-lt"/>
                <a:cs typeface="+mn-lt"/>
              </a:rPr>
              <a:t>fast</a:t>
            </a:r>
            <a:r>
              <a:rPr lang="es-ES" sz="1600">
                <a:ea typeface="+mn-lt"/>
                <a:cs typeface="+mn-lt"/>
              </a:rPr>
              <a:t> </a:t>
            </a:r>
            <a:r>
              <a:rPr lang="es-ES" sz="1600" err="1">
                <a:ea typeface="+mn-lt"/>
                <a:cs typeface="+mn-lt"/>
              </a:rPr>
              <a:t>transactions</a:t>
            </a:r>
            <a:r>
              <a:rPr lang="es-ES" sz="1600">
                <a:ea typeface="+mn-lt"/>
                <a:cs typeface="+mn-lt"/>
              </a:rPr>
              <a:t> &amp; </a:t>
            </a:r>
            <a:r>
              <a:rPr lang="es-ES" sz="1600" err="1">
                <a:ea typeface="+mn-lt"/>
                <a:cs typeface="+mn-lt"/>
              </a:rPr>
              <a:t>lookups</a:t>
            </a:r>
            <a:endParaRPr lang="es-ES" sz="1600" err="1"/>
          </a:p>
          <a:p>
            <a:pPr>
              <a:buFont typeface="Arial"/>
              <a:buChar char="•"/>
            </a:pPr>
            <a:r>
              <a:rPr lang="es-ES" sz="1600" b="1" err="1">
                <a:ea typeface="+mn-lt"/>
                <a:cs typeface="+mn-lt"/>
              </a:rPr>
              <a:t>Columnstore</a:t>
            </a:r>
            <a:r>
              <a:rPr lang="es-ES" sz="1600">
                <a:ea typeface="+mn-lt"/>
                <a:cs typeface="+mn-lt"/>
              </a:rPr>
              <a:t> → </a:t>
            </a:r>
            <a:r>
              <a:rPr lang="es-ES" sz="1600" err="1">
                <a:ea typeface="+mn-lt"/>
                <a:cs typeface="+mn-lt"/>
              </a:rPr>
              <a:t>high</a:t>
            </a:r>
            <a:r>
              <a:rPr lang="es-ES" sz="1600">
                <a:ea typeface="+mn-lt"/>
                <a:cs typeface="+mn-lt"/>
              </a:rPr>
              <a:t>-performance </a:t>
            </a:r>
            <a:r>
              <a:rPr lang="es-ES" sz="1600" err="1">
                <a:ea typeface="+mn-lt"/>
                <a:cs typeface="+mn-lt"/>
              </a:rPr>
              <a:t>analytics</a:t>
            </a:r>
            <a:endParaRPr lang="es-ES" sz="1600" err="1"/>
          </a:p>
          <a:p>
            <a:pPr>
              <a:buFont typeface="Arial"/>
              <a:buChar char="•"/>
            </a:pPr>
            <a:r>
              <a:rPr lang="es-ES" sz="1600" err="1">
                <a:ea typeface="+mn-lt"/>
                <a:cs typeface="+mn-lt"/>
              </a:rPr>
              <a:t>Eliminates</a:t>
            </a:r>
            <a:r>
              <a:rPr lang="es-ES" sz="1600">
                <a:ea typeface="+mn-lt"/>
                <a:cs typeface="+mn-lt"/>
              </a:rPr>
              <a:t> </a:t>
            </a:r>
            <a:r>
              <a:rPr lang="es-ES" sz="1600" err="1">
                <a:ea typeface="+mn-lt"/>
                <a:cs typeface="+mn-lt"/>
              </a:rPr>
              <a:t>need</a:t>
            </a:r>
            <a:r>
              <a:rPr lang="es-ES" sz="1600">
                <a:ea typeface="+mn-lt"/>
                <a:cs typeface="+mn-lt"/>
              </a:rPr>
              <a:t> </a:t>
            </a:r>
            <a:r>
              <a:rPr lang="es-ES" sz="1600" err="1">
                <a:ea typeface="+mn-lt"/>
                <a:cs typeface="+mn-lt"/>
              </a:rPr>
              <a:t>for</a:t>
            </a:r>
            <a:r>
              <a:rPr lang="es-ES" sz="1600">
                <a:ea typeface="+mn-lt"/>
                <a:cs typeface="+mn-lt"/>
              </a:rPr>
              <a:t> </a:t>
            </a:r>
            <a:r>
              <a:rPr lang="es-ES" sz="1600" err="1">
                <a:ea typeface="+mn-lt"/>
                <a:cs typeface="+mn-lt"/>
              </a:rPr>
              <a:t>separate</a:t>
            </a:r>
            <a:r>
              <a:rPr lang="es-ES" sz="1600">
                <a:ea typeface="+mn-lt"/>
                <a:cs typeface="+mn-lt"/>
              </a:rPr>
              <a:t> </a:t>
            </a:r>
            <a:r>
              <a:rPr lang="es-ES" sz="1600" err="1">
                <a:ea typeface="+mn-lt"/>
                <a:cs typeface="+mn-lt"/>
              </a:rPr>
              <a:t>transactional</a:t>
            </a:r>
            <a:r>
              <a:rPr lang="es-ES" sz="1600">
                <a:ea typeface="+mn-lt"/>
                <a:cs typeface="+mn-lt"/>
              </a:rPr>
              <a:t> and </a:t>
            </a:r>
            <a:r>
              <a:rPr lang="es-ES" sz="1600" err="1">
                <a:ea typeface="+mn-lt"/>
                <a:cs typeface="+mn-lt"/>
              </a:rPr>
              <a:t>analytics</a:t>
            </a:r>
            <a:r>
              <a:rPr lang="es-ES" sz="1600">
                <a:ea typeface="+mn-lt"/>
                <a:cs typeface="+mn-lt"/>
              </a:rPr>
              <a:t> </a:t>
            </a:r>
            <a:r>
              <a:rPr lang="es-ES" sz="1600" err="1">
                <a:ea typeface="+mn-lt"/>
                <a:cs typeface="+mn-lt"/>
              </a:rPr>
              <a:t>systems</a:t>
            </a:r>
            <a:endParaRPr lang="es-ES" sz="1600" err="1"/>
          </a:p>
          <a:p>
            <a:pPr marL="0" indent="0">
              <a:buNone/>
            </a:pPr>
            <a:endParaRPr lang="es-ES" sz="1600"/>
          </a:p>
          <a:p>
            <a:endParaRPr lang="es-ES" sz="1600"/>
          </a:p>
        </p:txBody>
      </p:sp>
    </p:spTree>
    <p:extLst>
      <p:ext uri="{BB962C8B-B14F-4D97-AF65-F5344CB8AC3E}">
        <p14:creationId xmlns:p14="http://schemas.microsoft.com/office/powerpoint/2010/main" val="1605658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722B2DD-E14D-4972-9D98-5D6E61B1B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CFB124C-4B0C-4A81-8633-17257B1516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82006" y="569844"/>
            <a:ext cx="8427988" cy="5649981"/>
          </a:xfrm>
          <a:prstGeom prst="rect">
            <a:avLst/>
          </a:prstGeom>
          <a:ln>
            <a:noFill/>
          </a:ln>
          <a:effectLst>
            <a:outerShdw blurRad="317500" dist="317500" dir="7140000" sx="95000" sy="95000" algn="t" rotWithShape="0">
              <a:srgbClr val="000000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Marcador de contenido 3" descr="Diagrama&#10;&#10;El contenido generado por IA puede ser incorrecto.">
            <a:extLst>
              <a:ext uri="{FF2B5EF4-FFF2-40B4-BE49-F238E27FC236}">
                <a16:creationId xmlns:a16="http://schemas.microsoft.com/office/drawing/2014/main" id="{E9392ECD-2C77-3803-5AE5-B348842C0F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283" r="-2" b="-2"/>
          <a:stretch>
            <a:fillRect/>
          </a:stretch>
        </p:blipFill>
        <p:spPr>
          <a:xfrm>
            <a:off x="1882006" y="569843"/>
            <a:ext cx="8450714" cy="5649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200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2B088C8-0266-7B75-28A5-CF5942235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s-ES" i="1">
                <a:ea typeface="+mj-lt"/>
                <a:cs typeface="+mj-lt"/>
              </a:rPr>
              <a:t>Who </a:t>
            </a:r>
            <a:r>
              <a:rPr lang="es-ES" i="1" err="1">
                <a:ea typeface="+mj-lt"/>
                <a:cs typeface="+mj-lt"/>
              </a:rPr>
              <a:t>Built</a:t>
            </a:r>
            <a:r>
              <a:rPr lang="es-ES" i="1">
                <a:ea typeface="+mj-lt"/>
                <a:cs typeface="+mj-lt"/>
              </a:rPr>
              <a:t> </a:t>
            </a:r>
            <a:r>
              <a:rPr lang="es-ES" i="1" err="1">
                <a:ea typeface="+mj-lt"/>
                <a:cs typeface="+mj-lt"/>
              </a:rPr>
              <a:t>It</a:t>
            </a:r>
            <a:r>
              <a:rPr lang="es-ES" i="1">
                <a:ea typeface="+mj-lt"/>
                <a:cs typeface="+mj-lt"/>
              </a:rPr>
              <a:t> — Who Uses </a:t>
            </a:r>
            <a:r>
              <a:rPr lang="es-ES" i="1" err="1">
                <a:ea typeface="+mj-lt"/>
                <a:cs typeface="+mj-lt"/>
              </a:rPr>
              <a:t>It</a:t>
            </a:r>
            <a:endParaRPr lang="es-ES" err="1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BD70D1-80A5-598B-C1D7-FD0B36EE0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s-ES" sz="1700" b="1" err="1">
                <a:ea typeface="+mn-lt"/>
                <a:cs typeface="+mn-lt"/>
              </a:rPr>
              <a:t>Founded</a:t>
            </a:r>
            <a:r>
              <a:rPr lang="es-ES" sz="1700" b="1">
                <a:ea typeface="+mn-lt"/>
                <a:cs typeface="+mn-lt"/>
              </a:rPr>
              <a:t> in 2011</a:t>
            </a:r>
            <a:r>
              <a:rPr lang="es-ES" sz="1700">
                <a:ea typeface="+mn-lt"/>
                <a:cs typeface="+mn-lt"/>
              </a:rPr>
              <a:t> as </a:t>
            </a:r>
            <a:r>
              <a:rPr lang="es-ES" sz="1700" i="1" err="1">
                <a:ea typeface="+mn-lt"/>
                <a:cs typeface="+mn-lt"/>
              </a:rPr>
              <a:t>MemSQL</a:t>
            </a:r>
            <a:endParaRPr lang="es-ES" sz="1700" err="1"/>
          </a:p>
          <a:p>
            <a:r>
              <a:rPr lang="es-ES" sz="1700" b="1" err="1">
                <a:ea typeface="+mn-lt"/>
                <a:cs typeface="+mn-lt"/>
              </a:rPr>
              <a:t>Founders</a:t>
            </a:r>
            <a:r>
              <a:rPr lang="es-ES" sz="1700" b="1">
                <a:ea typeface="+mn-lt"/>
                <a:cs typeface="+mn-lt"/>
              </a:rPr>
              <a:t>:</a:t>
            </a:r>
            <a:endParaRPr lang="es-ES" sz="1700"/>
          </a:p>
          <a:p>
            <a:pPr lvl="1"/>
            <a:r>
              <a:rPr lang="es-ES" sz="1700">
                <a:ea typeface="+mn-lt"/>
                <a:cs typeface="+mn-lt"/>
              </a:rPr>
              <a:t>Nikita </a:t>
            </a:r>
            <a:r>
              <a:rPr lang="es-ES" sz="1700" err="1">
                <a:ea typeface="+mn-lt"/>
                <a:cs typeface="+mn-lt"/>
              </a:rPr>
              <a:t>Shamgunov</a:t>
            </a:r>
            <a:r>
              <a:rPr lang="es-ES" sz="1700">
                <a:ea typeface="+mn-lt"/>
                <a:cs typeface="+mn-lt"/>
              </a:rPr>
              <a:t> </a:t>
            </a:r>
            <a:r>
              <a:rPr lang="es-ES" sz="1700" i="1">
                <a:ea typeface="+mn-lt"/>
                <a:cs typeface="+mn-lt"/>
              </a:rPr>
              <a:t>(ex-Microsoft SQL Server)</a:t>
            </a:r>
            <a:endParaRPr lang="es-ES" sz="1700"/>
          </a:p>
          <a:p>
            <a:pPr lvl="1"/>
            <a:r>
              <a:rPr lang="es-ES" sz="1700">
                <a:ea typeface="+mn-lt"/>
                <a:cs typeface="+mn-lt"/>
              </a:rPr>
              <a:t>Eric </a:t>
            </a:r>
            <a:r>
              <a:rPr lang="es-ES" sz="1700" err="1">
                <a:ea typeface="+mn-lt"/>
                <a:cs typeface="+mn-lt"/>
              </a:rPr>
              <a:t>Frenkiel</a:t>
            </a:r>
            <a:r>
              <a:rPr lang="es-ES" sz="1700">
                <a:ea typeface="+mn-lt"/>
                <a:cs typeface="+mn-lt"/>
              </a:rPr>
              <a:t> </a:t>
            </a:r>
            <a:r>
              <a:rPr lang="es-ES" sz="1700" i="1">
                <a:ea typeface="+mn-lt"/>
                <a:cs typeface="+mn-lt"/>
              </a:rPr>
              <a:t>(ex-Facebook </a:t>
            </a:r>
            <a:r>
              <a:rPr lang="es-ES" sz="1700" i="1" err="1">
                <a:ea typeface="+mn-lt"/>
                <a:cs typeface="+mn-lt"/>
              </a:rPr>
              <a:t>infrastructure</a:t>
            </a:r>
            <a:r>
              <a:rPr lang="es-ES" sz="1700" i="1">
                <a:ea typeface="+mn-lt"/>
                <a:cs typeface="+mn-lt"/>
              </a:rPr>
              <a:t>)</a:t>
            </a:r>
            <a:endParaRPr lang="es-ES" sz="1700"/>
          </a:p>
          <a:p>
            <a:r>
              <a:rPr lang="es-ES" sz="1700" b="1" err="1">
                <a:ea typeface="+mn-lt"/>
                <a:cs typeface="+mn-lt"/>
              </a:rPr>
              <a:t>Rebranded</a:t>
            </a:r>
            <a:r>
              <a:rPr lang="es-ES" sz="1700" b="1">
                <a:ea typeface="+mn-lt"/>
                <a:cs typeface="+mn-lt"/>
              </a:rPr>
              <a:t> in 2021 → </a:t>
            </a:r>
            <a:r>
              <a:rPr lang="es-ES" sz="1700" b="1" err="1">
                <a:ea typeface="+mn-lt"/>
                <a:cs typeface="+mn-lt"/>
              </a:rPr>
              <a:t>SingleStore</a:t>
            </a:r>
            <a:endParaRPr lang="es-ES" sz="1700" err="1"/>
          </a:p>
          <a:p>
            <a:r>
              <a:rPr lang="es-ES" sz="1700" b="1" err="1">
                <a:ea typeface="+mn-lt"/>
                <a:cs typeface="+mn-lt"/>
              </a:rPr>
              <a:t>Headquarters</a:t>
            </a:r>
            <a:r>
              <a:rPr lang="es-ES" sz="1700" b="1">
                <a:ea typeface="+mn-lt"/>
                <a:cs typeface="+mn-lt"/>
              </a:rPr>
              <a:t>:</a:t>
            </a:r>
            <a:r>
              <a:rPr lang="es-ES" sz="1700">
                <a:ea typeface="+mn-lt"/>
                <a:cs typeface="+mn-lt"/>
              </a:rPr>
              <a:t> San Francisco, CA</a:t>
            </a:r>
            <a:endParaRPr lang="es-ES" sz="1700"/>
          </a:p>
          <a:p>
            <a:r>
              <a:rPr lang="es-ES" sz="1700" b="1" err="1">
                <a:ea typeface="+mn-lt"/>
                <a:cs typeface="+mn-lt"/>
              </a:rPr>
              <a:t>Funding</a:t>
            </a:r>
            <a:r>
              <a:rPr lang="es-ES" sz="1700" b="1">
                <a:ea typeface="+mn-lt"/>
                <a:cs typeface="+mn-lt"/>
              </a:rPr>
              <a:t>:</a:t>
            </a:r>
            <a:r>
              <a:rPr lang="es-ES" sz="1700">
                <a:ea typeface="+mn-lt"/>
                <a:cs typeface="+mn-lt"/>
              </a:rPr>
              <a:t> $300M+ (Series F)</a:t>
            </a:r>
            <a:endParaRPr lang="es-ES" sz="1700"/>
          </a:p>
          <a:p>
            <a:endParaRPr lang="es-ES" sz="1700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B53B7619-CB43-9C1D-0291-5DCD97F0BF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605149"/>
              </p:ext>
            </p:extLst>
          </p:nvPr>
        </p:nvGraphicFramePr>
        <p:xfrm>
          <a:off x="703182" y="1760708"/>
          <a:ext cx="4777381" cy="3166845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503278">
                  <a:extLst>
                    <a:ext uri="{9D8B030D-6E8A-4147-A177-3AD203B41FA5}">
                      <a16:colId xmlns:a16="http://schemas.microsoft.com/office/drawing/2014/main" val="2280411164"/>
                    </a:ext>
                  </a:extLst>
                </a:gridCol>
                <a:gridCol w="3274103">
                  <a:extLst>
                    <a:ext uri="{9D8B030D-6E8A-4147-A177-3AD203B41FA5}">
                      <a16:colId xmlns:a16="http://schemas.microsoft.com/office/drawing/2014/main" val="1015420014"/>
                    </a:ext>
                  </a:extLst>
                </a:gridCol>
              </a:tblGrid>
              <a:tr h="5323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700">
                          <a:solidFill>
                            <a:srgbClr val="404040"/>
                          </a:solidFill>
                        </a:rPr>
                        <a:t>Company</a:t>
                      </a:r>
                    </a:p>
                  </a:txBody>
                  <a:tcPr marL="233142" marR="174856" marT="116571" marB="1165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700">
                          <a:solidFill>
                            <a:srgbClr val="404040"/>
                          </a:solidFill>
                        </a:rPr>
                        <a:t>Use Case</a:t>
                      </a:r>
                    </a:p>
                  </a:txBody>
                  <a:tcPr marL="233142" marR="174856" marT="116571" marB="116571" anchor="ctr"/>
                </a:tc>
                <a:extLst>
                  <a:ext uri="{0D108BD9-81ED-4DB2-BD59-A6C34878D82A}">
                    <a16:rowId xmlns:a16="http://schemas.microsoft.com/office/drawing/2014/main" val="3336797806"/>
                  </a:ext>
                </a:extLst>
              </a:tr>
              <a:tr h="7849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700">
                          <a:solidFill>
                            <a:srgbClr val="404040"/>
                          </a:solidFill>
                        </a:rPr>
                        <a:t>Uber</a:t>
                      </a:r>
                    </a:p>
                  </a:txBody>
                  <a:tcPr marL="233142" marR="174856" marT="116571" marB="1165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700">
                          <a:solidFill>
                            <a:srgbClr val="404040"/>
                          </a:solidFill>
                        </a:rPr>
                        <a:t>Real-time </a:t>
                      </a:r>
                      <a:r>
                        <a:rPr lang="es-ES" sz="1700" err="1">
                          <a:solidFill>
                            <a:srgbClr val="404040"/>
                          </a:solidFill>
                        </a:rPr>
                        <a:t>analytics</a:t>
                      </a:r>
                      <a:r>
                        <a:rPr lang="es-ES" sz="170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lang="es-ES" sz="1700" err="1">
                          <a:solidFill>
                            <a:srgbClr val="404040"/>
                          </a:solidFill>
                        </a:rPr>
                        <a:t>on</a:t>
                      </a:r>
                      <a:r>
                        <a:rPr lang="es-ES" sz="170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lang="es-ES" sz="1700" err="1">
                          <a:solidFill>
                            <a:srgbClr val="404040"/>
                          </a:solidFill>
                        </a:rPr>
                        <a:t>ride</a:t>
                      </a:r>
                      <a:r>
                        <a:rPr lang="es-ES" sz="170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lang="es-ES" sz="1700" err="1">
                          <a:solidFill>
                            <a:srgbClr val="404040"/>
                          </a:solidFill>
                        </a:rPr>
                        <a:t>events</a:t>
                      </a:r>
                    </a:p>
                  </a:txBody>
                  <a:tcPr marL="233142" marR="174856" marT="116571" marB="116571" anchor="ctr"/>
                </a:tc>
                <a:extLst>
                  <a:ext uri="{0D108BD9-81ED-4DB2-BD59-A6C34878D82A}">
                    <a16:rowId xmlns:a16="http://schemas.microsoft.com/office/drawing/2014/main" val="2624747134"/>
                  </a:ext>
                </a:extLst>
              </a:tr>
              <a:tr h="7849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700">
                          <a:solidFill>
                            <a:srgbClr val="404040"/>
                          </a:solidFill>
                        </a:rPr>
                        <a:t>Palo Alto Networks</a:t>
                      </a:r>
                    </a:p>
                  </a:txBody>
                  <a:tcPr marL="233142" marR="174856" marT="116571" marB="1165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700">
                          <a:solidFill>
                            <a:srgbClr val="404040"/>
                          </a:solidFill>
                        </a:rPr>
                        <a:t>Live </a:t>
                      </a:r>
                      <a:r>
                        <a:rPr lang="es-ES" sz="1700" err="1">
                          <a:solidFill>
                            <a:srgbClr val="404040"/>
                          </a:solidFill>
                        </a:rPr>
                        <a:t>threat</a:t>
                      </a:r>
                      <a:r>
                        <a:rPr lang="es-ES" sz="170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lang="es-ES" sz="1700" err="1">
                          <a:solidFill>
                            <a:srgbClr val="404040"/>
                          </a:solidFill>
                        </a:rPr>
                        <a:t>detection</a:t>
                      </a:r>
                    </a:p>
                  </a:txBody>
                  <a:tcPr marL="233142" marR="174856" marT="116571" marB="116571" anchor="ctr"/>
                </a:tc>
                <a:extLst>
                  <a:ext uri="{0D108BD9-81ED-4DB2-BD59-A6C34878D82A}">
                    <a16:rowId xmlns:a16="http://schemas.microsoft.com/office/drawing/2014/main" val="1683923716"/>
                  </a:ext>
                </a:extLst>
              </a:tr>
              <a:tr h="5323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700">
                          <a:solidFill>
                            <a:srgbClr val="404040"/>
                          </a:solidFill>
                        </a:rPr>
                        <a:t>Nasdaq</a:t>
                      </a:r>
                    </a:p>
                  </a:txBody>
                  <a:tcPr marL="233142" marR="174856" marT="116571" marB="1165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700" err="1">
                          <a:solidFill>
                            <a:srgbClr val="404040"/>
                          </a:solidFill>
                        </a:rPr>
                        <a:t>Financial</a:t>
                      </a:r>
                      <a:r>
                        <a:rPr lang="es-ES" sz="170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lang="es-ES" sz="1700" err="1">
                          <a:solidFill>
                            <a:srgbClr val="404040"/>
                          </a:solidFill>
                        </a:rPr>
                        <a:t>market</a:t>
                      </a:r>
                      <a:r>
                        <a:rPr lang="es-ES" sz="170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lang="es-ES" sz="1700" err="1">
                          <a:solidFill>
                            <a:srgbClr val="404040"/>
                          </a:solidFill>
                        </a:rPr>
                        <a:t>surveillance</a:t>
                      </a:r>
                    </a:p>
                  </a:txBody>
                  <a:tcPr marL="233142" marR="174856" marT="116571" marB="116571" anchor="ctr"/>
                </a:tc>
                <a:extLst>
                  <a:ext uri="{0D108BD9-81ED-4DB2-BD59-A6C34878D82A}">
                    <a16:rowId xmlns:a16="http://schemas.microsoft.com/office/drawing/2014/main" val="1646059109"/>
                  </a:ext>
                </a:extLst>
              </a:tr>
              <a:tr h="5323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700">
                          <a:solidFill>
                            <a:srgbClr val="404040"/>
                          </a:solidFill>
                        </a:rPr>
                        <a:t>Comcast</a:t>
                      </a:r>
                    </a:p>
                  </a:txBody>
                  <a:tcPr marL="233142" marR="174856" marT="116571" marB="11657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700" err="1">
                          <a:solidFill>
                            <a:srgbClr val="404040"/>
                          </a:solidFill>
                        </a:rPr>
                        <a:t>Customer</a:t>
                      </a:r>
                      <a:r>
                        <a:rPr lang="es-ES" sz="170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lang="es-ES" sz="1700" err="1">
                          <a:solidFill>
                            <a:srgbClr val="404040"/>
                          </a:solidFill>
                        </a:rPr>
                        <a:t>analytics</a:t>
                      </a:r>
                      <a:r>
                        <a:rPr lang="es-ES" sz="1700">
                          <a:solidFill>
                            <a:srgbClr val="404040"/>
                          </a:solidFill>
                        </a:rPr>
                        <a:t> at </a:t>
                      </a:r>
                      <a:r>
                        <a:rPr lang="es-ES" sz="1700" err="1">
                          <a:solidFill>
                            <a:srgbClr val="404040"/>
                          </a:solidFill>
                        </a:rPr>
                        <a:t>scale</a:t>
                      </a:r>
                    </a:p>
                  </a:txBody>
                  <a:tcPr marL="233142" marR="174856" marT="116571" marB="116571" anchor="ctr"/>
                </a:tc>
                <a:extLst>
                  <a:ext uri="{0D108BD9-81ED-4DB2-BD59-A6C34878D82A}">
                    <a16:rowId xmlns:a16="http://schemas.microsoft.com/office/drawing/2014/main" val="1521698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1709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DE4E34C-C1FE-D425-991A-5DABF4C00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s-ES" b="1" err="1">
                <a:ea typeface="+mj-lt"/>
                <a:cs typeface="+mj-lt"/>
              </a:rPr>
              <a:t>How</a:t>
            </a:r>
            <a:r>
              <a:rPr lang="es-ES" b="1">
                <a:ea typeface="+mj-lt"/>
                <a:cs typeface="+mj-lt"/>
              </a:rPr>
              <a:t> </a:t>
            </a:r>
            <a:r>
              <a:rPr lang="es-ES" b="1" err="1">
                <a:ea typeface="+mj-lt"/>
                <a:cs typeface="+mj-lt"/>
              </a:rPr>
              <a:t>SingleStore</a:t>
            </a:r>
            <a:r>
              <a:rPr lang="es-ES" b="1">
                <a:ea typeface="+mj-lt"/>
                <a:cs typeface="+mj-lt"/>
              </a:rPr>
              <a:t> </a:t>
            </a:r>
            <a:r>
              <a:rPr lang="es-ES" b="1" err="1">
                <a:ea typeface="+mj-lt"/>
                <a:cs typeface="+mj-lt"/>
              </a:rPr>
              <a:t>Distributes</a:t>
            </a:r>
            <a:r>
              <a:rPr lang="es-ES" b="1">
                <a:ea typeface="+mj-lt"/>
                <a:cs typeface="+mj-lt"/>
              </a:rPr>
              <a:t> Data</a:t>
            </a:r>
            <a:endParaRPr lang="es-ES" b="1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Imagen 4" descr="Diagrama&#10;&#10;El contenido generado por IA puede ser incorrecto.">
            <a:extLst>
              <a:ext uri="{FF2B5EF4-FFF2-40B4-BE49-F238E27FC236}">
                <a16:creationId xmlns:a16="http://schemas.microsoft.com/office/drawing/2014/main" id="{1D892981-3ECD-A76F-E298-396301ECF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82" y="1875083"/>
            <a:ext cx="4777381" cy="2938089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B41087-7039-2A0E-109F-83657E585B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3307" y="1984443"/>
            <a:ext cx="5870493" cy="41925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s-ES" sz="1800"/>
              <a:t>Core </a:t>
            </a:r>
            <a:r>
              <a:rPr lang="es-ES" sz="1800" err="1"/>
              <a:t>Architecture</a:t>
            </a:r>
            <a:endParaRPr lang="es-ES" sz="1800"/>
          </a:p>
          <a:p>
            <a:r>
              <a:rPr lang="es-ES" sz="1800" b="1" err="1">
                <a:ea typeface="+mn-lt"/>
                <a:cs typeface="+mn-lt"/>
              </a:rPr>
              <a:t>Hybrid</a:t>
            </a:r>
            <a:r>
              <a:rPr lang="es-ES" sz="1800" b="1">
                <a:ea typeface="+mn-lt"/>
                <a:cs typeface="+mn-lt"/>
              </a:rPr>
              <a:t> Storage </a:t>
            </a:r>
            <a:r>
              <a:rPr lang="es-ES" sz="1800" b="1" err="1">
                <a:ea typeface="+mn-lt"/>
                <a:cs typeface="+mn-lt"/>
              </a:rPr>
              <a:t>Engine</a:t>
            </a:r>
            <a:r>
              <a:rPr lang="es-ES" sz="1800" b="1">
                <a:ea typeface="+mn-lt"/>
                <a:cs typeface="+mn-lt"/>
              </a:rPr>
              <a:t> (</a:t>
            </a:r>
            <a:r>
              <a:rPr lang="es-ES" sz="1800" b="1" err="1">
                <a:ea typeface="+mn-lt"/>
                <a:cs typeface="+mn-lt"/>
              </a:rPr>
              <a:t>custom</a:t>
            </a:r>
            <a:r>
              <a:rPr lang="es-ES" sz="1800" b="1">
                <a:ea typeface="+mn-lt"/>
                <a:cs typeface="+mn-lt"/>
              </a:rPr>
              <a:t>):</a:t>
            </a:r>
            <a:endParaRPr lang="es-ES" sz="1800"/>
          </a:p>
          <a:p>
            <a:pPr lvl="1"/>
            <a:r>
              <a:rPr lang="es-ES" sz="1800" b="1" err="1">
                <a:ea typeface="+mn-lt"/>
                <a:cs typeface="+mn-lt"/>
              </a:rPr>
              <a:t>Rowstore</a:t>
            </a:r>
            <a:r>
              <a:rPr lang="es-ES" sz="1800" b="1">
                <a:ea typeface="+mn-lt"/>
                <a:cs typeface="+mn-lt"/>
              </a:rPr>
              <a:t> (RAM):</a:t>
            </a:r>
            <a:r>
              <a:rPr lang="es-ES" sz="1800">
                <a:ea typeface="+mn-lt"/>
                <a:cs typeface="+mn-lt"/>
              </a:rPr>
              <a:t> </a:t>
            </a:r>
            <a:r>
              <a:rPr lang="es-ES" sz="1800" err="1">
                <a:ea typeface="+mn-lt"/>
                <a:cs typeface="+mn-lt"/>
              </a:rPr>
              <a:t>fast</a:t>
            </a:r>
            <a:r>
              <a:rPr lang="es-ES" sz="1800">
                <a:ea typeface="+mn-lt"/>
                <a:cs typeface="+mn-lt"/>
              </a:rPr>
              <a:t> </a:t>
            </a:r>
            <a:r>
              <a:rPr lang="es-ES" sz="1800" err="1">
                <a:ea typeface="+mn-lt"/>
                <a:cs typeface="+mn-lt"/>
              </a:rPr>
              <a:t>writes</a:t>
            </a:r>
            <a:r>
              <a:rPr lang="es-ES" sz="1800">
                <a:ea typeface="+mn-lt"/>
                <a:cs typeface="+mn-lt"/>
              </a:rPr>
              <a:t> &amp; </a:t>
            </a:r>
            <a:r>
              <a:rPr lang="es-ES" sz="1800" err="1">
                <a:ea typeface="+mn-lt"/>
                <a:cs typeface="+mn-lt"/>
              </a:rPr>
              <a:t>point</a:t>
            </a:r>
            <a:r>
              <a:rPr lang="es-ES" sz="1800">
                <a:ea typeface="+mn-lt"/>
                <a:cs typeface="+mn-lt"/>
              </a:rPr>
              <a:t> </a:t>
            </a:r>
            <a:r>
              <a:rPr lang="es-ES" sz="1800" err="1">
                <a:ea typeface="+mn-lt"/>
                <a:cs typeface="+mn-lt"/>
              </a:rPr>
              <a:t>queries</a:t>
            </a:r>
            <a:r>
              <a:rPr lang="es-ES" sz="1800">
                <a:ea typeface="+mn-lt"/>
                <a:cs typeface="+mn-lt"/>
              </a:rPr>
              <a:t> </a:t>
            </a:r>
            <a:r>
              <a:rPr lang="es-ES" sz="1800" i="1">
                <a:ea typeface="+mn-lt"/>
                <a:cs typeface="+mn-lt"/>
              </a:rPr>
              <a:t>(OLTP)</a:t>
            </a:r>
            <a:endParaRPr lang="es-ES" sz="1800"/>
          </a:p>
          <a:p>
            <a:pPr lvl="1"/>
            <a:r>
              <a:rPr lang="es-ES" sz="1800" b="1" err="1">
                <a:ea typeface="+mn-lt"/>
                <a:cs typeface="+mn-lt"/>
              </a:rPr>
              <a:t>Columnstore</a:t>
            </a:r>
            <a:r>
              <a:rPr lang="es-ES" sz="1800" b="1">
                <a:ea typeface="+mn-lt"/>
                <a:cs typeface="+mn-lt"/>
              </a:rPr>
              <a:t> (Disk):</a:t>
            </a:r>
            <a:r>
              <a:rPr lang="es-ES" sz="1800">
                <a:ea typeface="+mn-lt"/>
                <a:cs typeface="+mn-lt"/>
              </a:rPr>
              <a:t> </a:t>
            </a:r>
            <a:r>
              <a:rPr lang="es-ES" sz="1800" err="1">
                <a:ea typeface="+mn-lt"/>
                <a:cs typeface="+mn-lt"/>
              </a:rPr>
              <a:t>fast</a:t>
            </a:r>
            <a:r>
              <a:rPr lang="es-ES" sz="1800">
                <a:ea typeface="+mn-lt"/>
                <a:cs typeface="+mn-lt"/>
              </a:rPr>
              <a:t> </a:t>
            </a:r>
            <a:r>
              <a:rPr lang="es-ES" sz="1800" err="1">
                <a:ea typeface="+mn-lt"/>
                <a:cs typeface="+mn-lt"/>
              </a:rPr>
              <a:t>analytical</a:t>
            </a:r>
            <a:r>
              <a:rPr lang="es-ES" sz="1800">
                <a:ea typeface="+mn-lt"/>
                <a:cs typeface="+mn-lt"/>
              </a:rPr>
              <a:t> </a:t>
            </a:r>
            <a:r>
              <a:rPr lang="es-ES" sz="1800" err="1">
                <a:ea typeface="+mn-lt"/>
                <a:cs typeface="+mn-lt"/>
              </a:rPr>
              <a:t>scans</a:t>
            </a:r>
            <a:r>
              <a:rPr lang="es-ES" sz="1800">
                <a:ea typeface="+mn-lt"/>
                <a:cs typeface="+mn-lt"/>
              </a:rPr>
              <a:t> </a:t>
            </a:r>
            <a:r>
              <a:rPr lang="es-ES" sz="1800" i="1">
                <a:ea typeface="+mn-lt"/>
                <a:cs typeface="+mn-lt"/>
              </a:rPr>
              <a:t>(OLAP)</a:t>
            </a:r>
            <a:endParaRPr lang="es-ES" sz="1800"/>
          </a:p>
          <a:p>
            <a:r>
              <a:rPr lang="es-ES" sz="1800" b="1" err="1">
                <a:ea typeface="+mn-lt"/>
                <a:cs typeface="+mn-lt"/>
              </a:rPr>
              <a:t>Distributed</a:t>
            </a:r>
            <a:r>
              <a:rPr lang="es-ES" sz="1800" b="1">
                <a:ea typeface="+mn-lt"/>
                <a:cs typeface="+mn-lt"/>
              </a:rPr>
              <a:t> Processing:</a:t>
            </a:r>
            <a:endParaRPr lang="es-ES" sz="1800"/>
          </a:p>
          <a:p>
            <a:pPr lvl="1"/>
            <a:r>
              <a:rPr lang="es-ES" sz="1800" err="1">
                <a:ea typeface="+mn-lt"/>
                <a:cs typeface="+mn-lt"/>
              </a:rPr>
              <a:t>Queries</a:t>
            </a:r>
            <a:r>
              <a:rPr lang="es-ES" sz="1800">
                <a:ea typeface="+mn-lt"/>
                <a:cs typeface="+mn-lt"/>
              </a:rPr>
              <a:t> are </a:t>
            </a:r>
            <a:r>
              <a:rPr lang="es-ES" sz="1800" err="1">
                <a:ea typeface="+mn-lt"/>
                <a:cs typeface="+mn-lt"/>
              </a:rPr>
              <a:t>parallelized</a:t>
            </a:r>
            <a:r>
              <a:rPr lang="es-ES" sz="1800">
                <a:ea typeface="+mn-lt"/>
                <a:cs typeface="+mn-lt"/>
              </a:rPr>
              <a:t> </a:t>
            </a:r>
            <a:r>
              <a:rPr lang="es-ES" sz="1800" err="1">
                <a:ea typeface="+mn-lt"/>
                <a:cs typeface="+mn-lt"/>
              </a:rPr>
              <a:t>across</a:t>
            </a:r>
            <a:r>
              <a:rPr lang="es-ES" sz="1800">
                <a:ea typeface="+mn-lt"/>
                <a:cs typeface="+mn-lt"/>
              </a:rPr>
              <a:t> </a:t>
            </a:r>
            <a:r>
              <a:rPr lang="es-ES" sz="1800" err="1">
                <a:ea typeface="+mn-lt"/>
                <a:cs typeface="+mn-lt"/>
              </a:rPr>
              <a:t>nodes</a:t>
            </a:r>
            <a:endParaRPr lang="es-ES" sz="1800"/>
          </a:p>
          <a:p>
            <a:pPr lvl="1"/>
            <a:r>
              <a:rPr lang="es-ES" sz="1800">
                <a:ea typeface="+mn-lt"/>
                <a:cs typeface="+mn-lt"/>
              </a:rPr>
              <a:t>Uses </a:t>
            </a:r>
            <a:r>
              <a:rPr lang="es-ES" sz="1800" b="1" err="1">
                <a:ea typeface="+mn-lt"/>
                <a:cs typeface="+mn-lt"/>
              </a:rPr>
              <a:t>Two-Phase</a:t>
            </a:r>
            <a:r>
              <a:rPr lang="es-ES" sz="1800" b="1">
                <a:ea typeface="+mn-lt"/>
                <a:cs typeface="+mn-lt"/>
              </a:rPr>
              <a:t> </a:t>
            </a:r>
            <a:r>
              <a:rPr lang="es-ES" sz="1800" b="1" err="1">
                <a:ea typeface="+mn-lt"/>
                <a:cs typeface="+mn-lt"/>
              </a:rPr>
              <a:t>Commit</a:t>
            </a:r>
            <a:r>
              <a:rPr lang="es-ES" sz="1800" b="1">
                <a:ea typeface="+mn-lt"/>
                <a:cs typeface="+mn-lt"/>
              </a:rPr>
              <a:t> (2PC)</a:t>
            </a:r>
            <a:r>
              <a:rPr lang="es-ES" sz="1800">
                <a:ea typeface="+mn-lt"/>
                <a:cs typeface="+mn-lt"/>
              </a:rPr>
              <a:t> </a:t>
            </a:r>
            <a:r>
              <a:rPr lang="es-ES" sz="1800" err="1">
                <a:ea typeface="+mn-lt"/>
                <a:cs typeface="+mn-lt"/>
              </a:rPr>
              <a:t>for</a:t>
            </a:r>
            <a:r>
              <a:rPr lang="es-ES" sz="1800">
                <a:ea typeface="+mn-lt"/>
                <a:cs typeface="+mn-lt"/>
              </a:rPr>
              <a:t> </a:t>
            </a:r>
            <a:r>
              <a:rPr lang="es-ES" sz="1800" err="1">
                <a:ea typeface="+mn-lt"/>
                <a:cs typeface="+mn-lt"/>
              </a:rPr>
              <a:t>consistency</a:t>
            </a:r>
            <a:endParaRPr lang="es-ES" sz="1800"/>
          </a:p>
          <a:p>
            <a:r>
              <a:rPr lang="es-ES" sz="1800" b="1" err="1">
                <a:ea typeface="+mn-lt"/>
                <a:cs typeface="+mn-lt"/>
              </a:rPr>
              <a:t>Durability</a:t>
            </a:r>
            <a:r>
              <a:rPr lang="es-ES" sz="1800" b="1">
                <a:ea typeface="+mn-lt"/>
                <a:cs typeface="+mn-lt"/>
              </a:rPr>
              <a:t> &amp; </a:t>
            </a:r>
            <a:r>
              <a:rPr lang="es-ES" sz="1800" b="1" err="1">
                <a:ea typeface="+mn-lt"/>
                <a:cs typeface="+mn-lt"/>
              </a:rPr>
              <a:t>Availability</a:t>
            </a:r>
            <a:r>
              <a:rPr lang="es-ES" sz="1800" b="1">
                <a:ea typeface="+mn-lt"/>
                <a:cs typeface="+mn-lt"/>
              </a:rPr>
              <a:t>:</a:t>
            </a:r>
            <a:endParaRPr lang="es-ES" sz="1800"/>
          </a:p>
          <a:p>
            <a:pPr lvl="1"/>
            <a:r>
              <a:rPr lang="es-ES" sz="1800" b="1" err="1">
                <a:ea typeface="+mn-lt"/>
                <a:cs typeface="+mn-lt"/>
              </a:rPr>
              <a:t>Synchronous</a:t>
            </a:r>
            <a:r>
              <a:rPr lang="es-ES" sz="1800" b="1">
                <a:ea typeface="+mn-lt"/>
                <a:cs typeface="+mn-lt"/>
              </a:rPr>
              <a:t> </a:t>
            </a:r>
            <a:r>
              <a:rPr lang="es-ES" sz="1800" b="1" err="1">
                <a:ea typeface="+mn-lt"/>
                <a:cs typeface="+mn-lt"/>
              </a:rPr>
              <a:t>replication</a:t>
            </a:r>
            <a:endParaRPr lang="es-ES" sz="1800"/>
          </a:p>
          <a:p>
            <a:pPr lvl="1"/>
            <a:r>
              <a:rPr lang="es-ES" sz="1800" err="1">
                <a:ea typeface="+mn-lt"/>
                <a:cs typeface="+mn-lt"/>
              </a:rPr>
              <a:t>Each</a:t>
            </a:r>
            <a:r>
              <a:rPr lang="es-ES" sz="1800">
                <a:ea typeface="+mn-lt"/>
                <a:cs typeface="+mn-lt"/>
              </a:rPr>
              <a:t> </a:t>
            </a:r>
            <a:r>
              <a:rPr lang="es-ES" sz="1800" err="1">
                <a:ea typeface="+mn-lt"/>
                <a:cs typeface="+mn-lt"/>
              </a:rPr>
              <a:t>write</a:t>
            </a:r>
            <a:r>
              <a:rPr lang="es-ES" sz="1800">
                <a:ea typeface="+mn-lt"/>
                <a:cs typeface="+mn-lt"/>
              </a:rPr>
              <a:t> </a:t>
            </a:r>
            <a:r>
              <a:rPr lang="es-ES" sz="1800" err="1">
                <a:ea typeface="+mn-lt"/>
                <a:cs typeface="+mn-lt"/>
              </a:rPr>
              <a:t>is</a:t>
            </a:r>
            <a:r>
              <a:rPr lang="es-ES" sz="1800">
                <a:ea typeface="+mn-lt"/>
                <a:cs typeface="+mn-lt"/>
              </a:rPr>
              <a:t> </a:t>
            </a:r>
            <a:r>
              <a:rPr lang="es-ES" sz="1800" err="1">
                <a:ea typeface="+mn-lt"/>
                <a:cs typeface="+mn-lt"/>
              </a:rPr>
              <a:t>confirmed</a:t>
            </a:r>
            <a:r>
              <a:rPr lang="es-ES" sz="1800">
                <a:ea typeface="+mn-lt"/>
                <a:cs typeface="+mn-lt"/>
              </a:rPr>
              <a:t> </a:t>
            </a:r>
            <a:r>
              <a:rPr lang="es-ES" sz="1800" err="1">
                <a:ea typeface="+mn-lt"/>
                <a:cs typeface="+mn-lt"/>
              </a:rPr>
              <a:t>only</a:t>
            </a:r>
            <a:r>
              <a:rPr lang="es-ES" sz="1800">
                <a:ea typeface="+mn-lt"/>
                <a:cs typeface="+mn-lt"/>
              </a:rPr>
              <a:t> after </a:t>
            </a:r>
            <a:r>
              <a:rPr lang="es-ES" sz="1800" err="1">
                <a:ea typeface="+mn-lt"/>
                <a:cs typeface="+mn-lt"/>
              </a:rPr>
              <a:t>redundancy</a:t>
            </a:r>
            <a:endParaRPr lang="es-ES" sz="1400" err="1"/>
          </a:p>
          <a:p>
            <a:endParaRPr lang="es-ES" sz="1300"/>
          </a:p>
        </p:txBody>
      </p:sp>
    </p:spTree>
    <p:extLst>
      <p:ext uri="{BB962C8B-B14F-4D97-AF65-F5344CB8AC3E}">
        <p14:creationId xmlns:p14="http://schemas.microsoft.com/office/powerpoint/2010/main" val="2106870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AB4076-8DC4-027C-380F-D5CBB7500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i="1">
                <a:ea typeface="+mj-lt"/>
                <a:cs typeface="+mj-lt"/>
              </a:rPr>
              <a:t>CAP </a:t>
            </a:r>
            <a:r>
              <a:rPr lang="es-ES" i="1" err="1">
                <a:ea typeface="+mj-lt"/>
                <a:cs typeface="+mj-lt"/>
              </a:rPr>
              <a:t>Theorem</a:t>
            </a:r>
            <a:r>
              <a:rPr lang="es-ES" i="1">
                <a:ea typeface="+mj-lt"/>
                <a:cs typeface="+mj-lt"/>
              </a:rPr>
              <a:t> — </a:t>
            </a:r>
            <a:r>
              <a:rPr lang="es-ES" i="1" err="1">
                <a:ea typeface="+mj-lt"/>
                <a:cs typeface="+mj-lt"/>
              </a:rPr>
              <a:t>SingleStore</a:t>
            </a:r>
            <a:r>
              <a:rPr lang="es-ES" i="1">
                <a:ea typeface="+mj-lt"/>
                <a:cs typeface="+mj-lt"/>
              </a:rPr>
              <a:t> as CP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E54CBF-79AE-4FCF-3534-FC9786087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err="1"/>
              <a:t>SingleStore</a:t>
            </a:r>
            <a:r>
              <a:rPr lang="es-ES"/>
              <a:t> in CAP</a:t>
            </a:r>
          </a:p>
          <a:p>
            <a:r>
              <a:rPr lang="es-ES" b="1" err="1">
                <a:ea typeface="+mn-lt"/>
                <a:cs typeface="+mn-lt"/>
              </a:rPr>
              <a:t>SingleStore</a:t>
            </a:r>
            <a:r>
              <a:rPr lang="es-ES" b="1">
                <a:ea typeface="+mn-lt"/>
                <a:cs typeface="+mn-lt"/>
              </a:rPr>
              <a:t> = CP (</a:t>
            </a:r>
            <a:r>
              <a:rPr lang="es-ES" b="1" err="1">
                <a:ea typeface="+mn-lt"/>
                <a:cs typeface="+mn-lt"/>
              </a:rPr>
              <a:t>Consistency</a:t>
            </a:r>
            <a:r>
              <a:rPr lang="es-ES" b="1">
                <a:ea typeface="+mn-lt"/>
                <a:cs typeface="+mn-lt"/>
              </a:rPr>
              <a:t> + </a:t>
            </a:r>
            <a:r>
              <a:rPr lang="es-ES" b="1" err="1">
                <a:ea typeface="+mn-lt"/>
                <a:cs typeface="+mn-lt"/>
              </a:rPr>
              <a:t>Partition</a:t>
            </a:r>
            <a:r>
              <a:rPr lang="es-ES" b="1">
                <a:ea typeface="+mn-lt"/>
                <a:cs typeface="+mn-lt"/>
              </a:rPr>
              <a:t> </a:t>
            </a:r>
            <a:r>
              <a:rPr lang="es-ES" b="1" err="1">
                <a:ea typeface="+mn-lt"/>
                <a:cs typeface="+mn-lt"/>
              </a:rPr>
              <a:t>Tolerance</a:t>
            </a:r>
            <a:r>
              <a:rPr lang="es-ES" b="1">
                <a:ea typeface="+mn-lt"/>
                <a:cs typeface="+mn-lt"/>
              </a:rPr>
              <a:t>)</a:t>
            </a:r>
            <a:endParaRPr lang="es-ES"/>
          </a:p>
          <a:p>
            <a:r>
              <a:rPr lang="es-ES" err="1">
                <a:ea typeface="+mn-lt"/>
                <a:cs typeface="+mn-lt"/>
              </a:rPr>
              <a:t>Guarantees</a:t>
            </a:r>
            <a:r>
              <a:rPr lang="es-ES">
                <a:ea typeface="+mn-lt"/>
                <a:cs typeface="+mn-lt"/>
              </a:rPr>
              <a:t> </a:t>
            </a:r>
            <a:r>
              <a:rPr lang="es-ES" b="1" err="1">
                <a:ea typeface="+mn-lt"/>
                <a:cs typeface="+mn-lt"/>
              </a:rPr>
              <a:t>strong</a:t>
            </a:r>
            <a:r>
              <a:rPr lang="es-ES" b="1">
                <a:ea typeface="+mn-lt"/>
                <a:cs typeface="+mn-lt"/>
              </a:rPr>
              <a:t> </a:t>
            </a:r>
            <a:r>
              <a:rPr lang="es-ES" b="1" err="1">
                <a:ea typeface="+mn-lt"/>
                <a:cs typeface="+mn-lt"/>
              </a:rPr>
              <a:t>consistency</a:t>
            </a:r>
            <a:r>
              <a:rPr lang="es-ES">
                <a:ea typeface="+mn-lt"/>
                <a:cs typeface="+mn-lt"/>
              </a:rPr>
              <a:t> → </a:t>
            </a:r>
            <a:r>
              <a:rPr lang="es-ES" err="1">
                <a:ea typeface="+mn-lt"/>
                <a:cs typeface="+mn-lt"/>
              </a:rPr>
              <a:t>always</a:t>
            </a:r>
            <a:r>
              <a:rPr lang="es-ES">
                <a:ea typeface="+mn-lt"/>
                <a:cs typeface="+mn-lt"/>
              </a:rPr>
              <a:t> </a:t>
            </a:r>
            <a:r>
              <a:rPr lang="es-ES" err="1">
                <a:ea typeface="+mn-lt"/>
                <a:cs typeface="+mn-lt"/>
              </a:rPr>
              <a:t>reads</a:t>
            </a:r>
            <a:r>
              <a:rPr lang="es-ES">
                <a:ea typeface="+mn-lt"/>
                <a:cs typeface="+mn-lt"/>
              </a:rPr>
              <a:t> </a:t>
            </a:r>
            <a:r>
              <a:rPr lang="es-ES" err="1">
                <a:ea typeface="+mn-lt"/>
                <a:cs typeface="+mn-lt"/>
              </a:rPr>
              <a:t>the</a:t>
            </a:r>
            <a:r>
              <a:rPr lang="es-ES">
                <a:ea typeface="+mn-lt"/>
                <a:cs typeface="+mn-lt"/>
              </a:rPr>
              <a:t> </a:t>
            </a:r>
            <a:r>
              <a:rPr lang="es-ES" err="1">
                <a:ea typeface="+mn-lt"/>
                <a:cs typeface="+mn-lt"/>
              </a:rPr>
              <a:t>latest</a:t>
            </a:r>
            <a:r>
              <a:rPr lang="es-ES">
                <a:ea typeface="+mn-lt"/>
                <a:cs typeface="+mn-lt"/>
              </a:rPr>
              <a:t> data</a:t>
            </a:r>
            <a:endParaRPr lang="es-ES"/>
          </a:p>
          <a:p>
            <a:r>
              <a:rPr lang="es-ES">
                <a:ea typeface="+mn-lt"/>
                <a:cs typeface="+mn-lt"/>
              </a:rPr>
              <a:t>Uses </a:t>
            </a:r>
            <a:r>
              <a:rPr lang="es-ES" b="1" err="1">
                <a:ea typeface="+mn-lt"/>
                <a:cs typeface="+mn-lt"/>
              </a:rPr>
              <a:t>synchronous</a:t>
            </a:r>
            <a:r>
              <a:rPr lang="es-ES" b="1">
                <a:ea typeface="+mn-lt"/>
                <a:cs typeface="+mn-lt"/>
              </a:rPr>
              <a:t> </a:t>
            </a:r>
            <a:r>
              <a:rPr lang="es-ES" b="1" err="1">
                <a:ea typeface="+mn-lt"/>
                <a:cs typeface="+mn-lt"/>
              </a:rPr>
              <a:t>replication</a:t>
            </a:r>
            <a:r>
              <a:rPr lang="es-ES">
                <a:ea typeface="+mn-lt"/>
                <a:cs typeface="+mn-lt"/>
              </a:rPr>
              <a:t> → </a:t>
            </a:r>
            <a:r>
              <a:rPr lang="es-ES" err="1">
                <a:ea typeface="+mn-lt"/>
                <a:cs typeface="+mn-lt"/>
              </a:rPr>
              <a:t>writes</a:t>
            </a:r>
            <a:r>
              <a:rPr lang="es-ES">
                <a:ea typeface="+mn-lt"/>
                <a:cs typeface="+mn-lt"/>
              </a:rPr>
              <a:t> </a:t>
            </a:r>
            <a:r>
              <a:rPr lang="es-ES" err="1">
                <a:ea typeface="+mn-lt"/>
                <a:cs typeface="+mn-lt"/>
              </a:rPr>
              <a:t>confirmed</a:t>
            </a:r>
            <a:r>
              <a:rPr lang="es-ES">
                <a:ea typeface="+mn-lt"/>
                <a:cs typeface="+mn-lt"/>
              </a:rPr>
              <a:t> </a:t>
            </a:r>
            <a:r>
              <a:rPr lang="es-ES" err="1">
                <a:ea typeface="+mn-lt"/>
                <a:cs typeface="+mn-lt"/>
              </a:rPr>
              <a:t>only</a:t>
            </a:r>
            <a:r>
              <a:rPr lang="es-ES">
                <a:ea typeface="+mn-lt"/>
                <a:cs typeface="+mn-lt"/>
              </a:rPr>
              <a:t> after replicas </a:t>
            </a:r>
            <a:r>
              <a:rPr lang="es-ES" err="1">
                <a:ea typeface="+mn-lt"/>
                <a:cs typeface="+mn-lt"/>
              </a:rPr>
              <a:t>respond</a:t>
            </a:r>
            <a:endParaRPr lang="es-ES" err="1"/>
          </a:p>
          <a:p>
            <a:r>
              <a:rPr lang="es-ES" err="1">
                <a:ea typeface="+mn-lt"/>
                <a:cs typeface="+mn-lt"/>
              </a:rPr>
              <a:t>During</a:t>
            </a:r>
            <a:r>
              <a:rPr lang="es-ES">
                <a:ea typeface="+mn-lt"/>
                <a:cs typeface="+mn-lt"/>
              </a:rPr>
              <a:t> </a:t>
            </a:r>
            <a:r>
              <a:rPr lang="es-ES" err="1">
                <a:ea typeface="+mn-lt"/>
                <a:cs typeface="+mn-lt"/>
              </a:rPr>
              <a:t>network</a:t>
            </a:r>
            <a:r>
              <a:rPr lang="es-ES">
                <a:ea typeface="+mn-lt"/>
                <a:cs typeface="+mn-lt"/>
              </a:rPr>
              <a:t> </a:t>
            </a:r>
            <a:r>
              <a:rPr lang="es-ES" err="1">
                <a:ea typeface="+mn-lt"/>
                <a:cs typeface="+mn-lt"/>
              </a:rPr>
              <a:t>failures</a:t>
            </a:r>
            <a:r>
              <a:rPr lang="es-ES">
                <a:ea typeface="+mn-lt"/>
                <a:cs typeface="+mn-lt"/>
              </a:rPr>
              <a:t> → </a:t>
            </a:r>
            <a:r>
              <a:rPr lang="es-ES" b="1" err="1">
                <a:ea typeface="+mn-lt"/>
                <a:cs typeface="+mn-lt"/>
              </a:rPr>
              <a:t>rejects</a:t>
            </a:r>
            <a:r>
              <a:rPr lang="es-ES" b="1">
                <a:ea typeface="+mn-lt"/>
                <a:cs typeface="+mn-lt"/>
              </a:rPr>
              <a:t> </a:t>
            </a:r>
            <a:r>
              <a:rPr lang="es-ES" b="1" err="1">
                <a:ea typeface="+mn-lt"/>
                <a:cs typeface="+mn-lt"/>
              </a:rPr>
              <a:t>writes</a:t>
            </a:r>
            <a:r>
              <a:rPr lang="es-ES">
                <a:ea typeface="+mn-lt"/>
                <a:cs typeface="+mn-lt"/>
              </a:rPr>
              <a:t> (</a:t>
            </a:r>
            <a:r>
              <a:rPr lang="es-ES" err="1">
                <a:ea typeface="+mn-lt"/>
                <a:cs typeface="+mn-lt"/>
              </a:rPr>
              <a:t>avoids</a:t>
            </a:r>
            <a:r>
              <a:rPr lang="es-ES">
                <a:ea typeface="+mn-lt"/>
                <a:cs typeface="+mn-lt"/>
              </a:rPr>
              <a:t> </a:t>
            </a:r>
            <a:r>
              <a:rPr lang="es-ES" err="1">
                <a:ea typeface="+mn-lt"/>
                <a:cs typeface="+mn-lt"/>
              </a:rPr>
              <a:t>stale</a:t>
            </a:r>
            <a:r>
              <a:rPr lang="es-ES">
                <a:ea typeface="+mn-lt"/>
                <a:cs typeface="+mn-lt"/>
              </a:rPr>
              <a:t> data)</a:t>
            </a:r>
            <a:endParaRPr lang="es-ES"/>
          </a:p>
          <a:p>
            <a:r>
              <a:rPr lang="es-ES" b="1" err="1">
                <a:ea typeface="+mn-lt"/>
                <a:cs typeface="+mn-lt"/>
              </a:rPr>
              <a:t>Not</a:t>
            </a:r>
            <a:r>
              <a:rPr lang="es-ES" b="1">
                <a:ea typeface="+mn-lt"/>
                <a:cs typeface="+mn-lt"/>
              </a:rPr>
              <a:t> configurable</a:t>
            </a:r>
            <a:r>
              <a:rPr lang="es-ES">
                <a:ea typeface="+mn-lt"/>
                <a:cs typeface="+mn-lt"/>
              </a:rPr>
              <a:t> → </a:t>
            </a:r>
            <a:r>
              <a:rPr lang="es-ES" err="1">
                <a:ea typeface="+mn-lt"/>
                <a:cs typeface="+mn-lt"/>
              </a:rPr>
              <a:t>consistency</a:t>
            </a:r>
            <a:r>
              <a:rPr lang="es-ES">
                <a:ea typeface="+mn-lt"/>
                <a:cs typeface="+mn-lt"/>
              </a:rPr>
              <a:t> </a:t>
            </a:r>
            <a:r>
              <a:rPr lang="es-ES" err="1">
                <a:ea typeface="+mn-lt"/>
                <a:cs typeface="+mn-lt"/>
              </a:rPr>
              <a:t>level</a:t>
            </a:r>
            <a:r>
              <a:rPr lang="es-ES">
                <a:ea typeface="+mn-lt"/>
                <a:cs typeface="+mn-lt"/>
              </a:rPr>
              <a:t> </a:t>
            </a:r>
            <a:r>
              <a:rPr lang="es-ES" err="1">
                <a:ea typeface="+mn-lt"/>
                <a:cs typeface="+mn-lt"/>
              </a:rPr>
              <a:t>is</a:t>
            </a:r>
            <a:r>
              <a:rPr lang="es-ES">
                <a:ea typeface="+mn-lt"/>
                <a:cs typeface="+mn-lt"/>
              </a:rPr>
              <a:t> </a:t>
            </a:r>
            <a:r>
              <a:rPr lang="es-ES" err="1">
                <a:ea typeface="+mn-lt"/>
                <a:cs typeface="+mn-lt"/>
              </a:rPr>
              <a:t>fixed</a:t>
            </a:r>
            <a:endParaRPr lang="es-ES" err="1"/>
          </a:p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8112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013458E-1897-2670-FD7E-F922506E6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5305" y="479493"/>
            <a:ext cx="9138495" cy="1325563"/>
          </a:xfrm>
        </p:spPr>
        <p:txBody>
          <a:bodyPr>
            <a:normAutofit/>
          </a:bodyPr>
          <a:lstStyle/>
          <a:p>
            <a:r>
              <a:rPr lang="es-ES" i="1"/>
              <a:t>CAP </a:t>
            </a:r>
            <a:r>
              <a:rPr lang="es-ES" i="1" err="1"/>
              <a:t>Theorem</a:t>
            </a:r>
            <a:r>
              <a:rPr lang="es-ES" i="1"/>
              <a:t> — </a:t>
            </a:r>
            <a:r>
              <a:rPr lang="es-ES" i="1" err="1"/>
              <a:t>SingleStore</a:t>
            </a:r>
            <a:r>
              <a:rPr lang="es-ES" i="1"/>
              <a:t> as CP</a:t>
            </a:r>
            <a:endParaRPr lang="es-ES"/>
          </a:p>
          <a:p>
            <a:endParaRPr lang="es-E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Marcador de contenido 5" descr="Forma&#10;&#10;El contenido generado por IA puede ser incorrecto.">
            <a:extLst>
              <a:ext uri="{FF2B5EF4-FFF2-40B4-BE49-F238E27FC236}">
                <a16:creationId xmlns:a16="http://schemas.microsoft.com/office/drawing/2014/main" id="{E7EFA4DC-9EE1-2180-CB25-2F7B061702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90527" y="1984443"/>
            <a:ext cx="4067709" cy="4192520"/>
          </a:xfrm>
          <a:prstGeom prst="rect">
            <a:avLst/>
          </a:prstGeom>
        </p:spPr>
      </p:pic>
      <p:graphicFrame>
        <p:nvGraphicFramePr>
          <p:cNvPr id="8" name="Marcador de contenido 4">
            <a:extLst>
              <a:ext uri="{FF2B5EF4-FFF2-40B4-BE49-F238E27FC236}">
                <a16:creationId xmlns:a16="http://schemas.microsoft.com/office/drawing/2014/main" id="{0119A252-99CD-EC2E-62E3-64513015DCA1}"/>
              </a:ext>
            </a:extLst>
          </p:cNvPr>
          <p:cNvGraphicFramePr>
            <a:graphicFrameLocks/>
          </p:cNvGraphicFramePr>
          <p:nvPr/>
        </p:nvGraphicFramePr>
        <p:xfrm>
          <a:off x="703182" y="2415239"/>
          <a:ext cx="4777383" cy="1857780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1142588">
                  <a:extLst>
                    <a:ext uri="{9D8B030D-6E8A-4147-A177-3AD203B41FA5}">
                      <a16:colId xmlns:a16="http://schemas.microsoft.com/office/drawing/2014/main" val="3011483638"/>
                    </a:ext>
                  </a:extLst>
                </a:gridCol>
                <a:gridCol w="622834">
                  <a:extLst>
                    <a:ext uri="{9D8B030D-6E8A-4147-A177-3AD203B41FA5}">
                      <a16:colId xmlns:a16="http://schemas.microsoft.com/office/drawing/2014/main" val="3066064766"/>
                    </a:ext>
                  </a:extLst>
                </a:gridCol>
                <a:gridCol w="1885717">
                  <a:extLst>
                    <a:ext uri="{9D8B030D-6E8A-4147-A177-3AD203B41FA5}">
                      <a16:colId xmlns:a16="http://schemas.microsoft.com/office/drawing/2014/main" val="587056152"/>
                    </a:ext>
                  </a:extLst>
                </a:gridCol>
                <a:gridCol w="1126244">
                  <a:extLst>
                    <a:ext uri="{9D8B030D-6E8A-4147-A177-3AD203B41FA5}">
                      <a16:colId xmlns:a16="http://schemas.microsoft.com/office/drawing/2014/main" val="3777578504"/>
                    </a:ext>
                  </a:extLst>
                </a:gridCol>
              </a:tblGrid>
              <a:tr h="380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System</a:t>
                      </a:r>
                    </a:p>
                  </a:txBody>
                  <a:tcPr marL="156907" marR="94144" marT="94144" marB="94144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CAP</a:t>
                      </a:r>
                    </a:p>
                  </a:txBody>
                  <a:tcPr marL="156907" marR="94144" marT="94144" marB="94144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Behavior During Partition</a:t>
                      </a:r>
                    </a:p>
                  </a:txBody>
                  <a:tcPr marL="156907" marR="94144" marT="94144" marB="94144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Configurable</a:t>
                      </a:r>
                    </a:p>
                  </a:txBody>
                  <a:tcPr marL="156907" marR="94144" marT="94144" marB="94144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8662346"/>
                  </a:ext>
                </a:extLst>
              </a:tr>
              <a:tr h="380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PostgreSQL</a:t>
                      </a:r>
                      <a:endParaRPr lang="es-ES" sz="1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56907" marR="94144" marT="94144" marB="94144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CP</a:t>
                      </a:r>
                    </a:p>
                  </a:txBody>
                  <a:tcPr marL="156907" marR="94144" marT="94144" marB="94144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Rejects requests</a:t>
                      </a:r>
                    </a:p>
                  </a:txBody>
                  <a:tcPr marL="156907" marR="94144" marT="94144" marB="94144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❌ No</a:t>
                      </a:r>
                    </a:p>
                  </a:txBody>
                  <a:tcPr marL="156907" marR="94144" marT="94144" marB="94144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2190600"/>
                  </a:ext>
                </a:extLst>
              </a:tr>
              <a:tr h="5481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Cassandra</a:t>
                      </a:r>
                      <a:endParaRPr lang="es-ES" sz="1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56907" marR="94144" marT="94144" marB="94144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AP</a:t>
                      </a:r>
                    </a:p>
                  </a:txBody>
                  <a:tcPr marL="156907" marR="94144" marT="94144" marB="94144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Continues (may return stale data)</a:t>
                      </a:r>
                    </a:p>
                  </a:txBody>
                  <a:tcPr marL="156907" marR="94144" marT="94144" marB="94144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✅ Yes</a:t>
                      </a:r>
                    </a:p>
                  </a:txBody>
                  <a:tcPr marL="156907" marR="94144" marT="94144" marB="94144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5239905"/>
                  </a:ext>
                </a:extLst>
              </a:tr>
              <a:tr h="5481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SingleStore</a:t>
                      </a:r>
                      <a:endParaRPr lang="es-ES" sz="11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156907" marR="94144" marT="94144" marB="94144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CP</a:t>
                      </a:r>
                    </a:p>
                  </a:txBody>
                  <a:tcPr marL="156907" marR="94144" marT="94144" marB="94144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Rejects writes (ensures consistency)</a:t>
                      </a:r>
                    </a:p>
                  </a:txBody>
                  <a:tcPr marL="156907" marR="94144" marT="94144" marB="94144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1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❌ No</a:t>
                      </a:r>
                    </a:p>
                  </a:txBody>
                  <a:tcPr marL="156907" marR="94144" marT="94144" marB="94144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7519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2795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12A9FA-BB9B-2E0C-7F91-B46E4E702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i="1" err="1">
                <a:ea typeface="+mj-lt"/>
                <a:cs typeface="+mj-lt"/>
              </a:rPr>
              <a:t>Scaling</a:t>
            </a:r>
            <a:r>
              <a:rPr lang="es-ES" i="1">
                <a:ea typeface="+mj-lt"/>
                <a:cs typeface="+mj-lt"/>
              </a:rPr>
              <a:t> </a:t>
            </a:r>
            <a:r>
              <a:rPr lang="es-ES" i="1" err="1">
                <a:ea typeface="+mj-lt"/>
                <a:cs typeface="+mj-lt"/>
              </a:rPr>
              <a:t>Model</a:t>
            </a:r>
            <a:r>
              <a:rPr lang="es-ES" i="1">
                <a:ea typeface="+mj-lt"/>
                <a:cs typeface="+mj-lt"/>
              </a:rPr>
              <a:t> — </a:t>
            </a:r>
            <a:r>
              <a:rPr lang="es-ES" i="1" err="1">
                <a:ea typeface="+mj-lt"/>
                <a:cs typeface="+mj-lt"/>
              </a:rPr>
              <a:t>Automatic</a:t>
            </a:r>
            <a:r>
              <a:rPr lang="es-ES" i="1">
                <a:ea typeface="+mj-lt"/>
                <a:cs typeface="+mj-lt"/>
              </a:rPr>
              <a:t> vs Manual </a:t>
            </a:r>
            <a:r>
              <a:rPr lang="es-ES" i="1" err="1">
                <a:ea typeface="+mj-lt"/>
                <a:cs typeface="+mj-lt"/>
              </a:rPr>
              <a:t>Sharding</a:t>
            </a:r>
            <a:endParaRPr lang="es-ES" err="1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59D38A2-C4D7-9E61-744F-EBE2E7674EB5}"/>
              </a:ext>
            </a:extLst>
          </p:cNvPr>
          <p:cNvSpPr txBox="1"/>
          <p:nvPr/>
        </p:nvSpPr>
        <p:spPr>
          <a:xfrm>
            <a:off x="840828" y="1896241"/>
            <a:ext cx="7952827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How </a:t>
            </a:r>
            <a:r>
              <a:rPr lang="en-US" b="1" err="1"/>
              <a:t>SingleStore</a:t>
            </a:r>
            <a:r>
              <a:rPr lang="en-US" b="1"/>
              <a:t> Scales</a:t>
            </a:r>
          </a:p>
          <a:p>
            <a:r>
              <a:rPr lang="en-US" b="1"/>
              <a:t>Automatic Sharding (Hash-Based Partitioning)</a:t>
            </a:r>
          </a:p>
          <a:p>
            <a:pPr>
              <a:buFont typeface=""/>
              <a:buChar char="•"/>
            </a:pPr>
            <a:r>
              <a:rPr lang="en-US"/>
              <a:t>Define a shard key (e.g., </a:t>
            </a:r>
            <a:r>
              <a:rPr lang="en-US" i="1" err="1"/>
              <a:t>customer_id</a:t>
            </a:r>
            <a:r>
              <a:rPr lang="en-US"/>
              <a:t>)</a:t>
            </a:r>
          </a:p>
          <a:p>
            <a:pPr>
              <a:buFont typeface=""/>
              <a:buChar char="•"/>
            </a:pPr>
            <a:r>
              <a:rPr lang="en-US"/>
              <a:t>System hashes each row → assigns it to a partition</a:t>
            </a:r>
          </a:p>
          <a:p>
            <a:pPr>
              <a:buFont typeface=""/>
              <a:buChar char="•"/>
            </a:pPr>
            <a:r>
              <a:rPr lang="en-US"/>
              <a:t>Ensures even distribution across nodes</a:t>
            </a:r>
          </a:p>
          <a:p>
            <a:pPr>
              <a:buFont typeface=""/>
              <a:buChar char="•"/>
            </a:pPr>
            <a:endParaRPr lang="en-US"/>
          </a:p>
          <a:p>
            <a:r>
              <a:rPr lang="en-US" b="1"/>
              <a:t>Unit of Distribution</a:t>
            </a:r>
          </a:p>
          <a:p>
            <a:pPr>
              <a:buFont typeface=""/>
              <a:buChar char="•"/>
            </a:pPr>
            <a:r>
              <a:rPr lang="en-US"/>
              <a:t>→ Partition (default: 8 × number of leaf nodes)</a:t>
            </a:r>
          </a:p>
          <a:p>
            <a:pPr>
              <a:buFont typeface=""/>
              <a:buChar char="•"/>
            </a:pPr>
            <a:endParaRPr lang="en-US"/>
          </a:p>
          <a:p>
            <a:pPr>
              <a:buFont typeface=""/>
              <a:buChar char="•"/>
            </a:pPr>
            <a:endParaRPr lang="en-US"/>
          </a:p>
          <a:p>
            <a:r>
              <a:rPr lang="en-US" b="1"/>
              <a:t>Auto-Rebalancing</a:t>
            </a:r>
          </a:p>
          <a:p>
            <a:pPr>
              <a:buFont typeface=""/>
              <a:buChar char="•"/>
            </a:pPr>
            <a:r>
              <a:rPr lang="en-US"/>
              <a:t>→ Add a node → partitions are redistributed automatically (no downtime)</a:t>
            </a:r>
          </a:p>
          <a:p>
            <a:r>
              <a:rPr lang="en-US" b="1"/>
              <a:t>Query Behavior</a:t>
            </a:r>
          </a:p>
          <a:p>
            <a:pPr>
              <a:buFont typeface=""/>
              <a:buChar char="•"/>
            </a:pPr>
            <a:r>
              <a:rPr lang="en-US"/>
              <a:t>✅ Single-partition queries (using shard key) → very fast</a:t>
            </a:r>
          </a:p>
          <a:p>
            <a:pPr>
              <a:buFont typeface=""/>
              <a:buChar char="•"/>
            </a:pPr>
            <a:r>
              <a:rPr lang="en-US"/>
              <a:t>⚠️ Cross-partition queries → require data movement (slower)</a:t>
            </a:r>
          </a:p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25776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E158DC0D-4377-F571-F97B-45926F3BAB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6641525"/>
              </p:ext>
            </p:extLst>
          </p:nvPr>
        </p:nvGraphicFramePr>
        <p:xfrm>
          <a:off x="1213184" y="290763"/>
          <a:ext cx="9832245" cy="6399816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2673283">
                  <a:extLst>
                    <a:ext uri="{9D8B030D-6E8A-4147-A177-3AD203B41FA5}">
                      <a16:colId xmlns:a16="http://schemas.microsoft.com/office/drawing/2014/main" val="60476124"/>
                    </a:ext>
                  </a:extLst>
                </a:gridCol>
                <a:gridCol w="3740583">
                  <a:extLst>
                    <a:ext uri="{9D8B030D-6E8A-4147-A177-3AD203B41FA5}">
                      <a16:colId xmlns:a16="http://schemas.microsoft.com/office/drawing/2014/main" val="1341471491"/>
                    </a:ext>
                  </a:extLst>
                </a:gridCol>
                <a:gridCol w="3418379">
                  <a:extLst>
                    <a:ext uri="{9D8B030D-6E8A-4147-A177-3AD203B41FA5}">
                      <a16:colId xmlns:a16="http://schemas.microsoft.com/office/drawing/2014/main" val="3208765882"/>
                    </a:ext>
                  </a:extLst>
                </a:gridCol>
              </a:tblGrid>
              <a:tr h="10608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300" cap="none" spc="0">
                          <a:solidFill>
                            <a:schemeClr val="tx1"/>
                          </a:solidFill>
                        </a:rPr>
                        <a:t>Aspect</a:t>
                      </a:r>
                    </a:p>
                  </a:txBody>
                  <a:tcPr marL="241218" marR="241218" marT="241218" marB="2412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300" cap="none" spc="0">
                          <a:solidFill>
                            <a:schemeClr val="tx1"/>
                          </a:solidFill>
                        </a:rPr>
                        <a:t>Manual Sharding (Part 2)</a:t>
                      </a:r>
                    </a:p>
                  </a:txBody>
                  <a:tcPr marL="241218" marR="241218" marT="241218" marB="2412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300" cap="none" spc="0">
                          <a:solidFill>
                            <a:schemeClr val="tx1"/>
                          </a:solidFill>
                        </a:rPr>
                        <a:t>SingleStore (Automatic)</a:t>
                      </a:r>
                    </a:p>
                  </a:txBody>
                  <a:tcPr marL="241218" marR="241218" marT="241218" marB="2412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993337"/>
                  </a:ext>
                </a:extLst>
              </a:tr>
              <a:tr h="10608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300" cap="none" spc="0">
                          <a:solidFill>
                            <a:schemeClr val="tx1"/>
                          </a:solidFill>
                        </a:rPr>
                        <a:t>Sharding strategy</a:t>
                      </a:r>
                    </a:p>
                  </a:txBody>
                  <a:tcPr marL="241218" marR="241218" marT="241218" marB="2412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300" cap="none" spc="0">
                          <a:solidFill>
                            <a:schemeClr val="tx1"/>
                          </a:solidFill>
                        </a:rPr>
                        <a:t>Geographic (SE / NE)</a:t>
                      </a:r>
                    </a:p>
                  </a:txBody>
                  <a:tcPr marL="241218" marR="241218" marT="241218" marB="2412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300" cap="none" spc="0">
                          <a:solidFill>
                            <a:schemeClr val="tx1"/>
                          </a:solidFill>
                        </a:rPr>
                        <a:t>Hash-based (shard key)</a:t>
                      </a:r>
                    </a:p>
                  </a:txBody>
                  <a:tcPr marL="241218" marR="241218" marT="241218" marB="2412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88969"/>
                  </a:ext>
                </a:extLst>
              </a:tr>
              <a:tr h="10608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300" cap="none" spc="0">
                          <a:solidFill>
                            <a:schemeClr val="tx1"/>
                          </a:solidFill>
                        </a:rPr>
                        <a:t>Scaling</a:t>
                      </a:r>
                    </a:p>
                  </a:txBody>
                  <a:tcPr marL="241218" marR="241218" marT="241218" marB="2412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300" cap="none" spc="0">
                          <a:solidFill>
                            <a:schemeClr val="tx1"/>
                          </a:solidFill>
                        </a:rPr>
                        <a:t>Manual (create new shard)</a:t>
                      </a:r>
                    </a:p>
                  </a:txBody>
                  <a:tcPr marL="241218" marR="241218" marT="241218" marB="2412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300" cap="none" spc="0">
                          <a:solidFill>
                            <a:schemeClr val="tx1"/>
                          </a:solidFill>
                        </a:rPr>
                        <a:t>Add node → auto-scale</a:t>
                      </a:r>
                    </a:p>
                  </a:txBody>
                  <a:tcPr marL="241218" marR="241218" marT="241218" marB="2412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7031557"/>
                  </a:ext>
                </a:extLst>
              </a:tr>
              <a:tr h="7461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300" cap="none" spc="0">
                          <a:solidFill>
                            <a:schemeClr val="tx1"/>
                          </a:solidFill>
                        </a:rPr>
                        <a:t>ETL impact</a:t>
                      </a:r>
                    </a:p>
                  </a:txBody>
                  <a:tcPr marL="241218" marR="241218" marT="241218" marB="2412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300" cap="none" spc="0">
                          <a:solidFill>
                            <a:schemeClr val="tx1"/>
                          </a:solidFill>
                        </a:rPr>
                        <a:t>Requires changes</a:t>
                      </a:r>
                    </a:p>
                  </a:txBody>
                  <a:tcPr marL="241218" marR="241218" marT="241218" marB="2412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300" cap="none" spc="0">
                          <a:solidFill>
                            <a:schemeClr val="tx1"/>
                          </a:solidFill>
                        </a:rPr>
                        <a:t>No changes needed</a:t>
                      </a:r>
                    </a:p>
                  </a:txBody>
                  <a:tcPr marL="241218" marR="241218" marT="241218" marB="2412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724373"/>
                  </a:ext>
                </a:extLst>
              </a:tr>
              <a:tr h="10608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300" cap="none" spc="0">
                          <a:solidFill>
                            <a:schemeClr val="tx1"/>
                          </a:solidFill>
                        </a:rPr>
                        <a:t>Query complexity</a:t>
                      </a:r>
                    </a:p>
                  </a:txBody>
                  <a:tcPr marL="241218" marR="241218" marT="241218" marB="2412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300" cap="none" spc="0">
                          <a:solidFill>
                            <a:schemeClr val="tx1"/>
                          </a:solidFill>
                        </a:rPr>
                        <a:t>UNION across shards</a:t>
                      </a:r>
                    </a:p>
                  </a:txBody>
                  <a:tcPr marL="241218" marR="241218" marT="241218" marB="2412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300" cap="none" spc="0">
                          <a:solidFill>
                            <a:schemeClr val="tx1"/>
                          </a:solidFill>
                        </a:rPr>
                        <a:t>Handled automatically</a:t>
                      </a:r>
                    </a:p>
                  </a:txBody>
                  <a:tcPr marL="241218" marR="241218" marT="241218" marB="2412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3215106"/>
                  </a:ext>
                </a:extLst>
              </a:tr>
              <a:tr h="7461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300" cap="none" spc="0">
                          <a:solidFill>
                            <a:schemeClr val="tx1"/>
                          </a:solidFill>
                        </a:rPr>
                        <a:t>Rebalancing</a:t>
                      </a:r>
                    </a:p>
                  </a:txBody>
                  <a:tcPr marL="241218" marR="241218" marT="241218" marB="2412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300" cap="none" spc="0">
                          <a:solidFill>
                            <a:schemeClr val="tx1"/>
                          </a:solidFill>
                        </a:rPr>
                        <a:t>Manual</a:t>
                      </a:r>
                    </a:p>
                  </a:txBody>
                  <a:tcPr marL="241218" marR="241218" marT="241218" marB="2412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300" cap="none" spc="0">
                          <a:solidFill>
                            <a:schemeClr val="tx1"/>
                          </a:solidFill>
                        </a:rPr>
                        <a:t>Automatic</a:t>
                      </a:r>
                    </a:p>
                  </a:txBody>
                  <a:tcPr marL="241218" marR="241218" marT="241218" marB="24121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33913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9107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8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Arc 10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BB1EC9E-4322-55BF-D3AD-1D5B15495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s-ES" i="1">
                <a:ea typeface="+mj-lt"/>
                <a:cs typeface="+mj-lt"/>
              </a:rPr>
              <a:t>SQL </a:t>
            </a:r>
            <a:r>
              <a:rPr lang="es-ES" i="1" err="1">
                <a:ea typeface="+mj-lt"/>
                <a:cs typeface="+mj-lt"/>
              </a:rPr>
              <a:t>Compatibility</a:t>
            </a:r>
            <a:r>
              <a:rPr lang="es-ES" i="1">
                <a:ea typeface="+mj-lt"/>
                <a:cs typeface="+mj-lt"/>
              </a:rPr>
              <a:t> &amp; </a:t>
            </a:r>
            <a:r>
              <a:rPr lang="es-ES" i="1" err="1">
                <a:ea typeface="+mj-lt"/>
                <a:cs typeface="+mj-lt"/>
              </a:rPr>
              <a:t>Transactions</a:t>
            </a:r>
            <a:endParaRPr lang="es-ES" err="1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Imagen 3" descr="Diagrama&#10;&#10;El contenido generado por IA puede ser incorrecto.">
            <a:extLst>
              <a:ext uri="{FF2B5EF4-FFF2-40B4-BE49-F238E27FC236}">
                <a16:creationId xmlns:a16="http://schemas.microsoft.com/office/drawing/2014/main" id="{A16C8670-5BB4-9498-F840-9F846F2A8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82" y="1074872"/>
            <a:ext cx="4777381" cy="4538511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67F8A28-9380-19B4-5BCB-2B00573846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s-ES" sz="1000"/>
              <a:t>SQL </a:t>
            </a:r>
            <a:r>
              <a:rPr lang="es-ES" sz="1000" err="1"/>
              <a:t>Compatibility</a:t>
            </a:r>
          </a:p>
          <a:p>
            <a:r>
              <a:rPr lang="es-ES" sz="1000" b="1">
                <a:ea typeface="+mn-lt"/>
                <a:cs typeface="+mn-lt"/>
              </a:rPr>
              <a:t>MySQL </a:t>
            </a:r>
            <a:r>
              <a:rPr lang="es-ES" sz="1000" b="1" err="1">
                <a:ea typeface="+mn-lt"/>
                <a:cs typeface="+mn-lt"/>
              </a:rPr>
              <a:t>wire</a:t>
            </a:r>
            <a:r>
              <a:rPr lang="es-ES" sz="1000" b="1">
                <a:ea typeface="+mn-lt"/>
                <a:cs typeface="+mn-lt"/>
              </a:rPr>
              <a:t>-compatible</a:t>
            </a:r>
            <a:r>
              <a:rPr lang="es-ES" sz="1000">
                <a:ea typeface="+mn-lt"/>
                <a:cs typeface="+mn-lt"/>
              </a:rPr>
              <a:t> → </a:t>
            </a:r>
            <a:r>
              <a:rPr lang="es-ES" sz="1000" err="1">
                <a:ea typeface="+mn-lt"/>
                <a:cs typeface="+mn-lt"/>
              </a:rPr>
              <a:t>supports</a:t>
            </a:r>
            <a:r>
              <a:rPr lang="es-ES" sz="1000">
                <a:ea typeface="+mn-lt"/>
                <a:cs typeface="+mn-lt"/>
              </a:rPr>
              <a:t> full SQL</a:t>
            </a:r>
            <a:br>
              <a:rPr lang="es-ES" sz="1000">
                <a:ea typeface="+mn-lt"/>
                <a:cs typeface="+mn-lt"/>
              </a:rPr>
            </a:br>
            <a:r>
              <a:rPr lang="es-ES" sz="1000">
                <a:ea typeface="+mn-lt"/>
                <a:cs typeface="+mn-lt"/>
              </a:rPr>
              <a:t>(</a:t>
            </a:r>
            <a:r>
              <a:rPr lang="es-ES" sz="1000" err="1">
                <a:ea typeface="+mn-lt"/>
                <a:cs typeface="+mn-lt"/>
              </a:rPr>
              <a:t>JOINs</a:t>
            </a:r>
            <a:r>
              <a:rPr lang="es-ES" sz="1000">
                <a:ea typeface="+mn-lt"/>
                <a:cs typeface="+mn-lt"/>
              </a:rPr>
              <a:t>, </a:t>
            </a:r>
            <a:r>
              <a:rPr lang="es-ES" sz="1000" err="1">
                <a:ea typeface="+mn-lt"/>
                <a:cs typeface="+mn-lt"/>
              </a:rPr>
              <a:t>CTEs</a:t>
            </a:r>
            <a:r>
              <a:rPr lang="es-ES" sz="1000">
                <a:ea typeface="+mn-lt"/>
                <a:cs typeface="+mn-lt"/>
              </a:rPr>
              <a:t>, </a:t>
            </a:r>
            <a:r>
              <a:rPr lang="es-ES" sz="1000" err="1">
                <a:ea typeface="+mn-lt"/>
                <a:cs typeface="+mn-lt"/>
              </a:rPr>
              <a:t>window</a:t>
            </a:r>
            <a:r>
              <a:rPr lang="es-ES" sz="1000">
                <a:ea typeface="+mn-lt"/>
                <a:cs typeface="+mn-lt"/>
              </a:rPr>
              <a:t> </a:t>
            </a:r>
            <a:r>
              <a:rPr lang="es-ES" sz="1000" err="1">
                <a:ea typeface="+mn-lt"/>
                <a:cs typeface="+mn-lt"/>
              </a:rPr>
              <a:t>functions</a:t>
            </a:r>
            <a:r>
              <a:rPr lang="es-ES" sz="1000">
                <a:ea typeface="+mn-lt"/>
                <a:cs typeface="+mn-lt"/>
              </a:rPr>
              <a:t>, </a:t>
            </a:r>
            <a:r>
              <a:rPr lang="es-ES" sz="1000" err="1">
                <a:ea typeface="+mn-lt"/>
                <a:cs typeface="+mn-lt"/>
              </a:rPr>
              <a:t>subqueries</a:t>
            </a:r>
            <a:r>
              <a:rPr lang="es-ES" sz="1000">
                <a:ea typeface="+mn-lt"/>
                <a:cs typeface="+mn-lt"/>
              </a:rPr>
              <a:t>, </a:t>
            </a:r>
            <a:r>
              <a:rPr lang="es-ES" sz="1000" err="1">
                <a:ea typeface="+mn-lt"/>
                <a:cs typeface="+mn-lt"/>
              </a:rPr>
              <a:t>stored</a:t>
            </a:r>
            <a:r>
              <a:rPr lang="es-ES" sz="1000">
                <a:ea typeface="+mn-lt"/>
                <a:cs typeface="+mn-lt"/>
              </a:rPr>
              <a:t> </a:t>
            </a:r>
            <a:r>
              <a:rPr lang="es-ES" sz="1000" err="1">
                <a:ea typeface="+mn-lt"/>
                <a:cs typeface="+mn-lt"/>
              </a:rPr>
              <a:t>procedures</a:t>
            </a:r>
            <a:r>
              <a:rPr lang="es-ES" sz="1000">
                <a:ea typeface="+mn-lt"/>
                <a:cs typeface="+mn-lt"/>
              </a:rPr>
              <a:t>)</a:t>
            </a:r>
            <a:endParaRPr lang="es-ES" sz="1000"/>
          </a:p>
          <a:p>
            <a:r>
              <a:rPr lang="es-ES" sz="1000" b="1" err="1">
                <a:ea typeface="+mn-lt"/>
                <a:cs typeface="+mn-lt"/>
              </a:rPr>
              <a:t>Migration</a:t>
            </a:r>
            <a:r>
              <a:rPr lang="es-ES" sz="1000" b="1">
                <a:ea typeface="+mn-lt"/>
                <a:cs typeface="+mn-lt"/>
              </a:rPr>
              <a:t>:</a:t>
            </a:r>
            <a:endParaRPr lang="es-ES" sz="1000"/>
          </a:p>
          <a:p>
            <a:pPr lvl="1"/>
            <a:r>
              <a:rPr lang="es-ES" sz="1000">
                <a:ea typeface="+mn-lt"/>
                <a:cs typeface="+mn-lt"/>
              </a:rPr>
              <a:t>MySQL → </a:t>
            </a:r>
            <a:r>
              <a:rPr lang="es-ES" sz="1000" b="1">
                <a:ea typeface="+mn-lt"/>
                <a:cs typeface="+mn-lt"/>
              </a:rPr>
              <a:t>no </a:t>
            </a:r>
            <a:r>
              <a:rPr lang="es-ES" sz="1000" b="1" err="1">
                <a:ea typeface="+mn-lt"/>
                <a:cs typeface="+mn-lt"/>
              </a:rPr>
              <a:t>code</a:t>
            </a:r>
            <a:r>
              <a:rPr lang="es-ES" sz="1000" b="1">
                <a:ea typeface="+mn-lt"/>
                <a:cs typeface="+mn-lt"/>
              </a:rPr>
              <a:t> </a:t>
            </a:r>
            <a:r>
              <a:rPr lang="es-ES" sz="1000" b="1" err="1">
                <a:ea typeface="+mn-lt"/>
                <a:cs typeface="+mn-lt"/>
              </a:rPr>
              <a:t>changes</a:t>
            </a:r>
            <a:r>
              <a:rPr lang="es-ES" sz="1000">
                <a:ea typeface="+mn-lt"/>
                <a:cs typeface="+mn-lt"/>
              </a:rPr>
              <a:t> ✅</a:t>
            </a:r>
            <a:endParaRPr lang="es-ES" sz="1000"/>
          </a:p>
          <a:p>
            <a:pPr lvl="1"/>
            <a:r>
              <a:rPr lang="es-ES" sz="1000">
                <a:ea typeface="+mn-lt"/>
                <a:cs typeface="+mn-lt"/>
              </a:rPr>
              <a:t>PostgreSQL → </a:t>
            </a:r>
            <a:r>
              <a:rPr lang="es-ES" sz="1000" b="1">
                <a:ea typeface="+mn-lt"/>
                <a:cs typeface="+mn-lt"/>
              </a:rPr>
              <a:t>driver </a:t>
            </a:r>
            <a:r>
              <a:rPr lang="es-ES" sz="1000" b="1" err="1">
                <a:ea typeface="+mn-lt"/>
                <a:cs typeface="+mn-lt"/>
              </a:rPr>
              <a:t>change</a:t>
            </a:r>
            <a:r>
              <a:rPr lang="es-ES" sz="1000" b="1">
                <a:ea typeface="+mn-lt"/>
                <a:cs typeface="+mn-lt"/>
              </a:rPr>
              <a:t> </a:t>
            </a:r>
            <a:r>
              <a:rPr lang="es-ES" sz="1000" b="1" err="1">
                <a:ea typeface="+mn-lt"/>
                <a:cs typeface="+mn-lt"/>
              </a:rPr>
              <a:t>required</a:t>
            </a:r>
            <a:r>
              <a:rPr lang="es-ES" sz="1000">
                <a:ea typeface="+mn-lt"/>
                <a:cs typeface="+mn-lt"/>
              </a:rPr>
              <a:t> (</a:t>
            </a:r>
            <a:r>
              <a:rPr lang="es-ES" sz="1000" err="1">
                <a:ea typeface="+mn-lt"/>
                <a:cs typeface="+mn-lt"/>
              </a:rPr>
              <a:t>minor</a:t>
            </a:r>
            <a:r>
              <a:rPr lang="es-ES" sz="1000">
                <a:ea typeface="+mn-lt"/>
                <a:cs typeface="+mn-lt"/>
              </a:rPr>
              <a:t> SQL </a:t>
            </a:r>
            <a:r>
              <a:rPr lang="es-ES" sz="1000" err="1">
                <a:ea typeface="+mn-lt"/>
                <a:cs typeface="+mn-lt"/>
              </a:rPr>
              <a:t>adjustments</a:t>
            </a:r>
            <a:r>
              <a:rPr lang="es-ES" sz="1000">
                <a:ea typeface="+mn-lt"/>
                <a:cs typeface="+mn-lt"/>
              </a:rPr>
              <a:t>)</a:t>
            </a:r>
            <a:endParaRPr lang="es-ES" sz="1000"/>
          </a:p>
          <a:p>
            <a:r>
              <a:rPr lang="es-ES" sz="1000" b="1" err="1">
                <a:ea typeface="+mn-lt"/>
                <a:cs typeface="+mn-lt"/>
              </a:rPr>
              <a:t>Limitations</a:t>
            </a:r>
            <a:r>
              <a:rPr lang="es-ES" sz="1000" b="1">
                <a:ea typeface="+mn-lt"/>
                <a:cs typeface="+mn-lt"/>
              </a:rPr>
              <a:t>:</a:t>
            </a:r>
            <a:endParaRPr lang="es-ES" sz="1000"/>
          </a:p>
          <a:p>
            <a:pPr lvl="1"/>
            <a:r>
              <a:rPr lang="es-ES" sz="1000">
                <a:ea typeface="+mn-lt"/>
                <a:cs typeface="+mn-lt"/>
              </a:rPr>
              <a:t>❌ No </a:t>
            </a:r>
            <a:r>
              <a:rPr lang="es-ES" sz="1000" b="1">
                <a:ea typeface="+mn-lt"/>
                <a:cs typeface="+mn-lt"/>
              </a:rPr>
              <a:t>SERIALIZABLE</a:t>
            </a:r>
            <a:r>
              <a:rPr lang="es-ES" sz="1000">
                <a:ea typeface="+mn-lt"/>
                <a:cs typeface="+mn-lt"/>
              </a:rPr>
              <a:t> </a:t>
            </a:r>
            <a:r>
              <a:rPr lang="es-ES" sz="1000" err="1">
                <a:ea typeface="+mn-lt"/>
                <a:cs typeface="+mn-lt"/>
              </a:rPr>
              <a:t>isolation</a:t>
            </a:r>
            <a:r>
              <a:rPr lang="es-ES" sz="1000">
                <a:ea typeface="+mn-lt"/>
                <a:cs typeface="+mn-lt"/>
              </a:rPr>
              <a:t> (</a:t>
            </a:r>
            <a:r>
              <a:rPr lang="es-ES" sz="1000" err="1">
                <a:ea typeface="+mn-lt"/>
                <a:cs typeface="+mn-lt"/>
              </a:rPr>
              <a:t>cluster-wide</a:t>
            </a:r>
            <a:r>
              <a:rPr lang="es-ES" sz="1000">
                <a:ea typeface="+mn-lt"/>
                <a:cs typeface="+mn-lt"/>
              </a:rPr>
              <a:t>)</a:t>
            </a:r>
            <a:endParaRPr lang="es-ES" sz="1000"/>
          </a:p>
          <a:p>
            <a:pPr lvl="1"/>
            <a:r>
              <a:rPr lang="es-ES" sz="1000">
                <a:ea typeface="+mn-lt"/>
                <a:cs typeface="+mn-lt"/>
              </a:rPr>
              <a:t>❌ No </a:t>
            </a:r>
            <a:r>
              <a:rPr lang="es-ES" sz="1000" b="1">
                <a:ea typeface="+mn-lt"/>
                <a:cs typeface="+mn-lt"/>
              </a:rPr>
              <a:t>DDL </a:t>
            </a:r>
            <a:r>
              <a:rPr lang="es-ES" sz="1000" b="1" err="1">
                <a:ea typeface="+mn-lt"/>
                <a:cs typeface="+mn-lt"/>
              </a:rPr>
              <a:t>inside</a:t>
            </a:r>
            <a:r>
              <a:rPr lang="es-ES" sz="1000" b="1">
                <a:ea typeface="+mn-lt"/>
                <a:cs typeface="+mn-lt"/>
              </a:rPr>
              <a:t> </a:t>
            </a:r>
            <a:r>
              <a:rPr lang="es-ES" sz="1000" b="1" err="1">
                <a:ea typeface="+mn-lt"/>
                <a:cs typeface="+mn-lt"/>
              </a:rPr>
              <a:t>transactions</a:t>
            </a:r>
            <a:endParaRPr lang="es-ES" sz="1000" err="1"/>
          </a:p>
          <a:p>
            <a:pPr lvl="1"/>
            <a:r>
              <a:rPr lang="es-ES" sz="1000">
                <a:ea typeface="+mn-lt"/>
                <a:cs typeface="+mn-lt"/>
              </a:rPr>
              <a:t>❌ No </a:t>
            </a:r>
            <a:r>
              <a:rPr lang="es-ES" sz="1000" b="1">
                <a:ea typeface="+mn-lt"/>
                <a:cs typeface="+mn-lt"/>
              </a:rPr>
              <a:t>DEFERRABLE </a:t>
            </a:r>
            <a:r>
              <a:rPr lang="es-ES" sz="1000" b="1" err="1">
                <a:ea typeface="+mn-lt"/>
                <a:cs typeface="+mn-lt"/>
              </a:rPr>
              <a:t>constraints</a:t>
            </a:r>
            <a:endParaRPr lang="es-ES" sz="1000" err="1"/>
          </a:p>
          <a:p>
            <a:pPr lvl="1"/>
            <a:r>
              <a:rPr lang="es-ES" sz="1000">
                <a:ea typeface="+mn-lt"/>
                <a:cs typeface="+mn-lt"/>
              </a:rPr>
              <a:t>⚠️ Cross-</a:t>
            </a:r>
            <a:r>
              <a:rPr lang="es-ES" sz="1000" err="1">
                <a:ea typeface="+mn-lt"/>
                <a:cs typeface="+mn-lt"/>
              </a:rPr>
              <a:t>partition</a:t>
            </a:r>
            <a:r>
              <a:rPr lang="es-ES" sz="1000">
                <a:ea typeface="+mn-lt"/>
                <a:cs typeface="+mn-lt"/>
              </a:rPr>
              <a:t> </a:t>
            </a:r>
            <a:r>
              <a:rPr lang="es-ES" sz="1000" err="1">
                <a:ea typeface="+mn-lt"/>
                <a:cs typeface="+mn-lt"/>
              </a:rPr>
              <a:t>queries</a:t>
            </a:r>
            <a:r>
              <a:rPr lang="es-ES" sz="1000">
                <a:ea typeface="+mn-lt"/>
                <a:cs typeface="+mn-lt"/>
              </a:rPr>
              <a:t> → </a:t>
            </a:r>
            <a:r>
              <a:rPr lang="es-ES" sz="1000" b="1">
                <a:ea typeface="+mn-lt"/>
                <a:cs typeface="+mn-lt"/>
              </a:rPr>
              <a:t>broadcast </a:t>
            </a:r>
            <a:r>
              <a:rPr lang="es-ES" sz="1000" b="1" err="1">
                <a:ea typeface="+mn-lt"/>
                <a:cs typeface="+mn-lt"/>
              </a:rPr>
              <a:t>join</a:t>
            </a:r>
            <a:r>
              <a:rPr lang="es-ES" sz="1000" b="1">
                <a:ea typeface="+mn-lt"/>
                <a:cs typeface="+mn-lt"/>
              </a:rPr>
              <a:t> (</a:t>
            </a:r>
            <a:r>
              <a:rPr lang="es-ES" sz="1000" b="1" err="1">
                <a:ea typeface="+mn-lt"/>
                <a:cs typeface="+mn-lt"/>
              </a:rPr>
              <a:t>slower</a:t>
            </a:r>
            <a:r>
              <a:rPr lang="es-ES" sz="1000" b="1">
                <a:ea typeface="+mn-lt"/>
                <a:cs typeface="+mn-lt"/>
              </a:rPr>
              <a:t> at </a:t>
            </a:r>
            <a:r>
              <a:rPr lang="es-ES" sz="1000" b="1" err="1">
                <a:ea typeface="+mn-lt"/>
                <a:cs typeface="+mn-lt"/>
              </a:rPr>
              <a:t>scale</a:t>
            </a:r>
            <a:r>
              <a:rPr lang="es-ES" sz="1000" b="1">
                <a:ea typeface="+mn-lt"/>
                <a:cs typeface="+mn-lt"/>
              </a:rPr>
              <a:t>)</a:t>
            </a:r>
            <a:endParaRPr lang="es-ES" sz="1000"/>
          </a:p>
          <a:p>
            <a:br>
              <a:rPr lang="en-US" sz="1000"/>
            </a:b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700100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A6872FC-3D3A-8745-DBA9-AA7C34B2D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03" y="350196"/>
            <a:ext cx="12276429" cy="162452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sz="3600" err="1">
                <a:latin typeface="Aptos Display"/>
              </a:rPr>
              <a:t>Would</a:t>
            </a:r>
            <a:r>
              <a:rPr lang="es-ES" sz="3600">
                <a:latin typeface="Aptos Display"/>
              </a:rPr>
              <a:t> </a:t>
            </a:r>
            <a:r>
              <a:rPr lang="es-ES" sz="3600" err="1">
                <a:latin typeface="Aptos Display"/>
              </a:rPr>
              <a:t>SingleStore</a:t>
            </a:r>
            <a:r>
              <a:rPr lang="es-ES" sz="3600">
                <a:latin typeface="Aptos Display"/>
              </a:rPr>
              <a:t> </a:t>
            </a:r>
            <a:r>
              <a:rPr lang="es-ES" sz="3600" err="1">
                <a:latin typeface="Aptos Display"/>
              </a:rPr>
              <a:t>Replace</a:t>
            </a:r>
            <a:r>
              <a:rPr lang="es-ES" sz="3600">
                <a:latin typeface="Aptos Display"/>
              </a:rPr>
              <a:t> </a:t>
            </a:r>
            <a:r>
              <a:rPr lang="es-ES" sz="3600" err="1">
                <a:latin typeface="Aptos Display"/>
              </a:rPr>
              <a:t>TechRetail's</a:t>
            </a:r>
            <a:r>
              <a:rPr lang="es-ES" sz="3600">
                <a:latin typeface="Aptos Display"/>
              </a:rPr>
              <a:t> </a:t>
            </a:r>
            <a:r>
              <a:rPr lang="es-ES" sz="3600" err="1">
                <a:latin typeface="Aptos Display"/>
              </a:rPr>
              <a:t>Architecture</a:t>
            </a:r>
            <a:r>
              <a:rPr lang="es-ES" sz="3600">
                <a:latin typeface="Aptos Display"/>
              </a:rPr>
              <a:t>?</a:t>
            </a:r>
            <a:endParaRPr lang="es-ES" sz="3600"/>
          </a:p>
          <a:p>
            <a:endParaRPr lang="es-ES" sz="37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92C321-2212-F322-745D-36A76E120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1876206"/>
            <a:ext cx="106667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1600" b="1" err="1">
                <a:latin typeface="Arial"/>
                <a:cs typeface="Arial"/>
              </a:rPr>
              <a:t>Current</a:t>
            </a:r>
            <a:r>
              <a:rPr lang="es-ES" sz="1600" b="1">
                <a:latin typeface="Arial"/>
                <a:cs typeface="Arial"/>
              </a:rPr>
              <a:t> </a:t>
            </a:r>
            <a:r>
              <a:rPr lang="es-ES" sz="1600" b="1" err="1">
                <a:latin typeface="Arial"/>
                <a:cs typeface="Arial"/>
              </a:rPr>
              <a:t>Architecture</a:t>
            </a:r>
            <a:r>
              <a:rPr lang="es-ES" sz="1600" b="1">
                <a:latin typeface="Arial"/>
                <a:cs typeface="Arial"/>
              </a:rPr>
              <a:t> (</a:t>
            </a:r>
            <a:r>
              <a:rPr lang="es-ES" sz="1600" b="1" err="1">
                <a:latin typeface="Arial"/>
                <a:cs typeface="Arial"/>
              </a:rPr>
              <a:t>Parts</a:t>
            </a:r>
            <a:r>
              <a:rPr lang="es-ES" sz="1600" b="1">
                <a:latin typeface="Arial"/>
                <a:cs typeface="Arial"/>
              </a:rPr>
              <a:t> 1-3)</a:t>
            </a:r>
            <a:endParaRPr lang="es-ES" sz="1600">
              <a:latin typeface="Arial"/>
              <a:cs typeface="Arial"/>
            </a:endParaRPr>
          </a:p>
          <a:p>
            <a:pPr lvl="1"/>
            <a:r>
              <a:rPr lang="es-ES" sz="1600" b="1">
                <a:latin typeface="Arial"/>
                <a:ea typeface="+mn-lt"/>
                <a:cs typeface="Arial"/>
              </a:rPr>
              <a:t>[</a:t>
            </a:r>
            <a:r>
              <a:rPr lang="es-ES" sz="1600" b="1" err="1">
                <a:latin typeface="Arial"/>
                <a:ea typeface="+mn-lt"/>
                <a:cs typeface="Arial"/>
              </a:rPr>
              <a:t>Cassandra</a:t>
            </a:r>
            <a:r>
              <a:rPr lang="es-ES" sz="1600" b="1">
                <a:latin typeface="Arial"/>
                <a:ea typeface="+mn-lt"/>
                <a:cs typeface="Arial"/>
              </a:rPr>
              <a:t> </a:t>
            </a:r>
            <a:r>
              <a:rPr lang="es-ES" sz="1600" b="1" err="1">
                <a:latin typeface="Arial"/>
                <a:ea typeface="+mn-lt"/>
                <a:cs typeface="Arial"/>
              </a:rPr>
              <a:t>Cluster</a:t>
            </a:r>
            <a:r>
              <a:rPr lang="es-ES" sz="1600" b="1">
                <a:latin typeface="Arial"/>
                <a:ea typeface="+mn-lt"/>
                <a:cs typeface="Arial"/>
              </a:rPr>
              <a:t>]</a:t>
            </a:r>
            <a:r>
              <a:rPr lang="es-ES" sz="1600">
                <a:latin typeface="Arial"/>
                <a:ea typeface="+mn-lt"/>
                <a:cs typeface="Arial"/>
              </a:rPr>
              <a:t> ← High-</a:t>
            </a:r>
            <a:r>
              <a:rPr lang="es-ES" sz="1600" err="1">
                <a:latin typeface="Arial"/>
                <a:ea typeface="+mn-lt"/>
                <a:cs typeface="Arial"/>
              </a:rPr>
              <a:t>velocity</a:t>
            </a:r>
            <a:r>
              <a:rPr lang="es-ES" sz="1600">
                <a:latin typeface="Arial"/>
                <a:ea typeface="+mn-lt"/>
                <a:cs typeface="Arial"/>
              </a:rPr>
              <a:t> </a:t>
            </a:r>
            <a:r>
              <a:rPr lang="es-ES" sz="1600" err="1">
                <a:latin typeface="Arial"/>
                <a:ea typeface="+mn-lt"/>
                <a:cs typeface="Arial"/>
              </a:rPr>
              <a:t>order</a:t>
            </a:r>
            <a:r>
              <a:rPr lang="es-ES" sz="1600">
                <a:latin typeface="Arial"/>
                <a:ea typeface="+mn-lt"/>
                <a:cs typeface="Arial"/>
              </a:rPr>
              <a:t> </a:t>
            </a:r>
            <a:r>
              <a:rPr lang="es-ES" sz="1600" err="1">
                <a:latin typeface="Arial"/>
                <a:ea typeface="+mn-lt"/>
                <a:cs typeface="Arial"/>
              </a:rPr>
              <a:t>writes</a:t>
            </a:r>
            <a:r>
              <a:rPr lang="es-ES" sz="1600">
                <a:latin typeface="Arial"/>
                <a:ea typeface="+mn-lt"/>
                <a:cs typeface="Arial"/>
              </a:rPr>
              <a:t>.</a:t>
            </a:r>
            <a:endParaRPr lang="es-ES" sz="1600">
              <a:latin typeface="Arial"/>
              <a:cs typeface="Arial"/>
            </a:endParaRPr>
          </a:p>
          <a:p>
            <a:pPr lvl="1"/>
            <a:r>
              <a:rPr lang="es-ES" sz="1600" b="1">
                <a:latin typeface="Arial"/>
                <a:ea typeface="+mn-lt"/>
                <a:cs typeface="Arial"/>
              </a:rPr>
              <a:t>[PG </a:t>
            </a:r>
            <a:r>
              <a:rPr lang="es-ES" sz="1600" b="1" err="1">
                <a:latin typeface="Arial"/>
                <a:ea typeface="+mn-lt"/>
                <a:cs typeface="Arial"/>
              </a:rPr>
              <a:t>Shard</a:t>
            </a:r>
            <a:r>
              <a:rPr lang="es-ES" sz="1600" b="1">
                <a:latin typeface="Arial"/>
                <a:ea typeface="+mn-lt"/>
                <a:cs typeface="Arial"/>
              </a:rPr>
              <a:t> SE] + [PG </a:t>
            </a:r>
            <a:r>
              <a:rPr lang="es-ES" sz="1600" b="1" err="1">
                <a:latin typeface="Arial"/>
                <a:ea typeface="+mn-lt"/>
                <a:cs typeface="Arial"/>
              </a:rPr>
              <a:t>Shard</a:t>
            </a:r>
            <a:r>
              <a:rPr lang="es-ES" sz="1600" b="1">
                <a:latin typeface="Arial"/>
                <a:ea typeface="+mn-lt"/>
                <a:cs typeface="Arial"/>
              </a:rPr>
              <a:t> NE]</a:t>
            </a:r>
            <a:r>
              <a:rPr lang="es-ES" sz="1600">
                <a:latin typeface="Arial"/>
                <a:ea typeface="+mn-lt"/>
                <a:cs typeface="Arial"/>
              </a:rPr>
              <a:t> ← Reference data (</a:t>
            </a:r>
            <a:r>
              <a:rPr lang="es-ES" sz="1600" err="1">
                <a:latin typeface="Arial"/>
                <a:ea typeface="+mn-lt"/>
                <a:cs typeface="Arial"/>
              </a:rPr>
              <a:t>customers</a:t>
            </a:r>
            <a:r>
              <a:rPr lang="es-ES" sz="1600">
                <a:latin typeface="Arial"/>
                <a:ea typeface="+mn-lt"/>
                <a:cs typeface="Arial"/>
              </a:rPr>
              <a:t>, </a:t>
            </a:r>
            <a:r>
              <a:rPr lang="es-ES" sz="1600" err="1">
                <a:latin typeface="Arial"/>
                <a:ea typeface="+mn-lt"/>
                <a:cs typeface="Arial"/>
              </a:rPr>
              <a:t>products</a:t>
            </a:r>
            <a:r>
              <a:rPr lang="es-ES" sz="1600">
                <a:latin typeface="Arial"/>
                <a:ea typeface="+mn-lt"/>
                <a:cs typeface="Arial"/>
              </a:rPr>
              <a:t>).</a:t>
            </a:r>
            <a:endParaRPr lang="es-ES" sz="1600">
              <a:latin typeface="Arial"/>
              <a:cs typeface="Arial"/>
            </a:endParaRPr>
          </a:p>
          <a:p>
            <a:pPr lvl="1"/>
            <a:r>
              <a:rPr lang="es-ES" sz="1600" b="1">
                <a:latin typeface="Arial"/>
                <a:ea typeface="+mn-lt"/>
                <a:cs typeface="Arial"/>
              </a:rPr>
              <a:t>[PG </a:t>
            </a:r>
            <a:r>
              <a:rPr lang="es-ES" sz="1600" b="1" err="1">
                <a:latin typeface="Arial"/>
                <a:ea typeface="+mn-lt"/>
                <a:cs typeface="Arial"/>
              </a:rPr>
              <a:t>Warehouse</a:t>
            </a:r>
            <a:r>
              <a:rPr lang="es-ES" sz="1600" b="1">
                <a:latin typeface="Arial"/>
                <a:ea typeface="+mn-lt"/>
                <a:cs typeface="Arial"/>
              </a:rPr>
              <a:t> DB]</a:t>
            </a:r>
            <a:r>
              <a:rPr lang="es-ES" sz="1600">
                <a:latin typeface="Arial"/>
                <a:ea typeface="+mn-lt"/>
                <a:cs typeface="Arial"/>
              </a:rPr>
              <a:t> ← </a:t>
            </a:r>
            <a:r>
              <a:rPr lang="es-ES" sz="1600" err="1">
                <a:latin typeface="Arial"/>
                <a:ea typeface="+mn-lt"/>
                <a:cs typeface="Arial"/>
              </a:rPr>
              <a:t>Star</a:t>
            </a:r>
            <a:r>
              <a:rPr lang="es-ES" sz="1600">
                <a:latin typeface="Arial"/>
                <a:ea typeface="+mn-lt"/>
                <a:cs typeface="Arial"/>
              </a:rPr>
              <a:t> </a:t>
            </a:r>
            <a:r>
              <a:rPr lang="es-ES" sz="1600" err="1">
                <a:latin typeface="Arial"/>
                <a:ea typeface="+mn-lt"/>
                <a:cs typeface="Arial"/>
              </a:rPr>
              <a:t>schema</a:t>
            </a:r>
            <a:r>
              <a:rPr lang="es-ES" sz="1600">
                <a:latin typeface="Arial"/>
                <a:ea typeface="+mn-lt"/>
                <a:cs typeface="Arial"/>
              </a:rPr>
              <a:t> </a:t>
            </a:r>
            <a:r>
              <a:rPr lang="es-ES" sz="1600" err="1">
                <a:latin typeface="Arial"/>
                <a:ea typeface="+mn-lt"/>
                <a:cs typeface="Arial"/>
              </a:rPr>
              <a:t>analytics</a:t>
            </a:r>
            <a:r>
              <a:rPr lang="es-ES" sz="1600">
                <a:latin typeface="Arial"/>
                <a:ea typeface="+mn-lt"/>
                <a:cs typeface="Arial"/>
              </a:rPr>
              <a:t>.</a:t>
            </a:r>
            <a:endParaRPr lang="es-ES" sz="1600">
              <a:latin typeface="Arial"/>
              <a:cs typeface="Arial"/>
            </a:endParaRPr>
          </a:p>
          <a:p>
            <a:pPr lvl="1"/>
            <a:r>
              <a:rPr lang="es-ES" sz="1600" b="1">
                <a:latin typeface="Arial"/>
                <a:ea typeface="+mn-lt"/>
                <a:cs typeface="Arial"/>
              </a:rPr>
              <a:t>[ETL </a:t>
            </a:r>
            <a:r>
              <a:rPr lang="es-ES" sz="1600" b="1" err="1">
                <a:latin typeface="Arial"/>
                <a:ea typeface="+mn-lt"/>
                <a:cs typeface="Arial"/>
              </a:rPr>
              <a:t>Service</a:t>
            </a:r>
            <a:r>
              <a:rPr lang="es-ES" sz="1600" b="1">
                <a:latin typeface="Arial"/>
                <a:ea typeface="+mn-lt"/>
                <a:cs typeface="Arial"/>
              </a:rPr>
              <a:t> (cron)]</a:t>
            </a:r>
            <a:r>
              <a:rPr lang="es-ES" sz="1600">
                <a:latin typeface="Arial"/>
                <a:ea typeface="+mn-lt"/>
                <a:cs typeface="Arial"/>
              </a:rPr>
              <a:t> ← </a:t>
            </a:r>
            <a:r>
              <a:rPr lang="es-ES" sz="1600" err="1">
                <a:latin typeface="Arial"/>
                <a:ea typeface="+mn-lt"/>
                <a:cs typeface="Arial"/>
              </a:rPr>
              <a:t>Connects</a:t>
            </a:r>
            <a:r>
              <a:rPr lang="es-ES" sz="1600">
                <a:latin typeface="Arial"/>
                <a:ea typeface="+mn-lt"/>
                <a:cs typeface="Arial"/>
              </a:rPr>
              <a:t> </a:t>
            </a:r>
            <a:r>
              <a:rPr lang="es-ES" sz="1600" err="1">
                <a:latin typeface="Arial"/>
                <a:ea typeface="+mn-lt"/>
                <a:cs typeface="Arial"/>
              </a:rPr>
              <a:t>all</a:t>
            </a:r>
            <a:r>
              <a:rPr lang="es-ES" sz="1600">
                <a:latin typeface="Arial"/>
                <a:ea typeface="+mn-lt"/>
                <a:cs typeface="Arial"/>
              </a:rPr>
              <a:t> </a:t>
            </a:r>
            <a:r>
              <a:rPr lang="es-ES" sz="1600" err="1">
                <a:latin typeface="Arial"/>
                <a:ea typeface="+mn-lt"/>
                <a:cs typeface="Arial"/>
              </a:rPr>
              <a:t>of</a:t>
            </a:r>
            <a:r>
              <a:rPr lang="es-ES" sz="1600">
                <a:latin typeface="Arial"/>
                <a:ea typeface="+mn-lt"/>
                <a:cs typeface="Arial"/>
              </a:rPr>
              <a:t> </a:t>
            </a:r>
            <a:r>
              <a:rPr lang="es-ES" sz="1600" err="1">
                <a:latin typeface="Arial"/>
                <a:ea typeface="+mn-lt"/>
                <a:cs typeface="Arial"/>
              </a:rPr>
              <a:t>the</a:t>
            </a:r>
            <a:r>
              <a:rPr lang="es-ES" sz="1600">
                <a:latin typeface="Arial"/>
                <a:ea typeface="+mn-lt"/>
                <a:cs typeface="Arial"/>
              </a:rPr>
              <a:t> </a:t>
            </a:r>
            <a:r>
              <a:rPr lang="es-ES" sz="1600" err="1">
                <a:latin typeface="Arial"/>
                <a:ea typeface="+mn-lt"/>
                <a:cs typeface="Arial"/>
              </a:rPr>
              <a:t>above</a:t>
            </a:r>
            <a:r>
              <a:rPr lang="es-ES" sz="1600">
                <a:latin typeface="Arial"/>
                <a:ea typeface="+mn-lt"/>
                <a:cs typeface="Arial"/>
              </a:rPr>
              <a:t>.</a:t>
            </a:r>
            <a:endParaRPr lang="es-ES" sz="1600">
              <a:latin typeface="Arial"/>
              <a:cs typeface="Arial"/>
            </a:endParaRPr>
          </a:p>
          <a:p>
            <a:pPr lvl="1"/>
            <a:r>
              <a:rPr lang="es-ES" sz="1600" b="1">
                <a:latin typeface="Arial"/>
                <a:ea typeface="+mn-lt"/>
                <a:cs typeface="Arial"/>
              </a:rPr>
              <a:t>Status:</a:t>
            </a:r>
            <a:r>
              <a:rPr lang="es-ES" sz="1600">
                <a:latin typeface="Arial"/>
                <a:ea typeface="+mn-lt"/>
                <a:cs typeface="Arial"/>
              </a:rPr>
              <a:t> 4 </a:t>
            </a:r>
            <a:r>
              <a:rPr lang="es-ES" sz="1600" err="1">
                <a:latin typeface="Arial"/>
                <a:ea typeface="+mn-lt"/>
                <a:cs typeface="Arial"/>
              </a:rPr>
              <a:t>separate</a:t>
            </a:r>
            <a:r>
              <a:rPr lang="es-ES" sz="1600">
                <a:latin typeface="Arial"/>
                <a:ea typeface="+mn-lt"/>
                <a:cs typeface="Arial"/>
              </a:rPr>
              <a:t> </a:t>
            </a:r>
            <a:r>
              <a:rPr lang="es-ES" sz="1600" err="1">
                <a:latin typeface="Arial"/>
                <a:ea typeface="+mn-lt"/>
                <a:cs typeface="Arial"/>
              </a:rPr>
              <a:t>systems</a:t>
            </a:r>
            <a:r>
              <a:rPr lang="es-ES" sz="1600">
                <a:latin typeface="Arial"/>
                <a:ea typeface="+mn-lt"/>
                <a:cs typeface="Arial"/>
              </a:rPr>
              <a:t> + ETL </a:t>
            </a:r>
            <a:r>
              <a:rPr lang="es-ES" sz="1600" err="1">
                <a:latin typeface="Arial"/>
                <a:ea typeface="+mn-lt"/>
                <a:cs typeface="Arial"/>
              </a:rPr>
              <a:t>latency</a:t>
            </a:r>
            <a:r>
              <a:rPr lang="es-ES" sz="1600">
                <a:latin typeface="Arial"/>
                <a:ea typeface="+mn-lt"/>
                <a:cs typeface="Arial"/>
              </a:rPr>
              <a:t> + manual SE/NE </a:t>
            </a:r>
            <a:r>
              <a:rPr lang="es-ES" sz="1600" err="1">
                <a:latin typeface="Arial"/>
                <a:ea typeface="+mn-lt"/>
                <a:cs typeface="Arial"/>
              </a:rPr>
              <a:t>sharding</a:t>
            </a:r>
            <a:r>
              <a:rPr lang="es-ES" sz="1600">
                <a:latin typeface="Arial"/>
                <a:ea typeface="+mn-lt"/>
                <a:cs typeface="Arial"/>
              </a:rPr>
              <a:t>.</a:t>
            </a:r>
            <a:endParaRPr lang="es-ES" sz="1600">
              <a:latin typeface="Arial"/>
              <a:cs typeface="Arial"/>
            </a:endParaRPr>
          </a:p>
          <a:p>
            <a:endParaRPr lang="es-ES"/>
          </a:p>
          <a:p>
            <a:pPr>
              <a:lnSpc>
                <a:spcPct val="70000"/>
              </a:lnSpc>
            </a:pPr>
            <a:endParaRPr lang="es-ES"/>
          </a:p>
          <a:p>
            <a:endParaRPr lang="es-ES" sz="2000"/>
          </a:p>
          <a:p>
            <a:endParaRPr lang="es-ES" sz="2000"/>
          </a:p>
          <a:p>
            <a:endParaRPr lang="es-ES" sz="200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E1F1BD1-060B-AA98-619E-3A2721F421D1}"/>
              </a:ext>
            </a:extLst>
          </p:cNvPr>
          <p:cNvSpPr txBox="1"/>
          <p:nvPr/>
        </p:nvSpPr>
        <p:spPr>
          <a:xfrm>
            <a:off x="1015453" y="4140638"/>
            <a:ext cx="815340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With SingleStore</a:t>
            </a:r>
          </a:p>
          <a:p>
            <a:pPr marL="228600" indent="-228600">
              <a:buFont typeface=""/>
              <a:buChar char="•"/>
            </a:pPr>
            <a:r>
              <a:rPr lang="en-US" b="1"/>
              <a:t>[SingleStore Cluster]</a:t>
            </a:r>
          </a:p>
          <a:p>
            <a:pPr marL="228600" lvl="1" indent="-228600">
              <a:buFont typeface=""/>
              <a:buChar char="•"/>
            </a:pPr>
            <a:r>
              <a:rPr lang="en-US" b="1"/>
              <a:t>Rowstore:</a:t>
            </a:r>
            <a:r>
              <a:rPr lang="en-US"/>
              <a:t> Replaces Cassandra (ingestion) + PG Shards (reference data).</a:t>
            </a:r>
          </a:p>
          <a:p>
            <a:pPr marL="228600" lvl="1" indent="-228600">
              <a:buFont typeface=""/>
              <a:buChar char="•"/>
            </a:pPr>
            <a:r>
              <a:rPr lang="en-US" b="1"/>
              <a:t>Columnstore:</a:t>
            </a:r>
            <a:r>
              <a:rPr lang="en-US"/>
              <a:t> Replaces PG Warehouse (analytics, no ETL needed).</a:t>
            </a:r>
          </a:p>
          <a:p>
            <a:pPr marL="228600" lvl="1" indent="-228600">
              <a:buFont typeface=""/>
              <a:buChar char="•"/>
            </a:pPr>
            <a:r>
              <a:rPr lang="en-US" b="1"/>
              <a:t>Auto hash partitioning:</a:t>
            </a:r>
            <a:r>
              <a:rPr lang="en-US"/>
              <a:t> Replaces manual SE/NE sharding.</a:t>
            </a:r>
          </a:p>
          <a:p>
            <a:pPr marL="228600" indent="-228600">
              <a:buFont typeface=""/>
              <a:buChar char="•"/>
            </a:pPr>
            <a:r>
              <a:rPr lang="en-US" b="1"/>
              <a:t>Status:</a:t>
            </a:r>
            <a:r>
              <a:rPr lang="en-US"/>
              <a:t> 1 unified system, zero ETL, automatic sharding, real-time analytics.</a:t>
            </a:r>
          </a:p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27335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845A0EE-C4C8-4AE1-B3C6-1261368AC0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46854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3EAD545-2E43-0931-8BC7-24BADBFE3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629" y="640080"/>
            <a:ext cx="4225290" cy="557881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i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Would SingleStore Replace TechRetail's Architecture?</a:t>
            </a:r>
            <a:endParaRPr lang="en-US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A7F2E71D-A476-EEBD-1A00-6321383F6D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7516993"/>
              </p:ext>
            </p:extLst>
          </p:nvPr>
        </p:nvGraphicFramePr>
        <p:xfrm>
          <a:off x="6096000" y="1583102"/>
          <a:ext cx="5459471" cy="3692777"/>
        </p:xfrm>
        <a:graphic>
          <a:graphicData uri="http://schemas.openxmlformats.org/drawingml/2006/table">
            <a:tbl>
              <a:tblPr bandRow="1">
                <a:tableStyleId>{8EC20E35-A176-4012-BC5E-935CFFF8708E}</a:tableStyleId>
              </a:tblPr>
              <a:tblGrid>
                <a:gridCol w="1364868">
                  <a:extLst>
                    <a:ext uri="{9D8B030D-6E8A-4147-A177-3AD203B41FA5}">
                      <a16:colId xmlns:a16="http://schemas.microsoft.com/office/drawing/2014/main" val="3184885658"/>
                    </a:ext>
                  </a:extLst>
                </a:gridCol>
                <a:gridCol w="1650981">
                  <a:extLst>
                    <a:ext uri="{9D8B030D-6E8A-4147-A177-3AD203B41FA5}">
                      <a16:colId xmlns:a16="http://schemas.microsoft.com/office/drawing/2014/main" val="1002939514"/>
                    </a:ext>
                  </a:extLst>
                </a:gridCol>
                <a:gridCol w="1195319">
                  <a:extLst>
                    <a:ext uri="{9D8B030D-6E8A-4147-A177-3AD203B41FA5}">
                      <a16:colId xmlns:a16="http://schemas.microsoft.com/office/drawing/2014/main" val="2263001145"/>
                    </a:ext>
                  </a:extLst>
                </a:gridCol>
                <a:gridCol w="1248303">
                  <a:extLst>
                    <a:ext uri="{9D8B030D-6E8A-4147-A177-3AD203B41FA5}">
                      <a16:colId xmlns:a16="http://schemas.microsoft.com/office/drawing/2014/main" val="1400384239"/>
                    </a:ext>
                  </a:extLst>
                </a:gridCol>
              </a:tblGrid>
              <a:tr h="335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 b="1" err="1"/>
                        <a:t>Aspect</a:t>
                      </a:r>
                    </a:p>
                  </a:txBody>
                  <a:tcPr marL="76297" marR="76297" marT="38148" marB="381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 b="1"/>
                        <a:t>PG </a:t>
                      </a:r>
                      <a:r>
                        <a:rPr lang="es-ES" sz="1500" b="1" err="1"/>
                        <a:t>Shards</a:t>
                      </a:r>
                    </a:p>
                  </a:txBody>
                  <a:tcPr marL="76297" marR="76297" marT="38148" marB="381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 b="1" err="1"/>
                        <a:t>Cassandra</a:t>
                      </a:r>
                    </a:p>
                  </a:txBody>
                  <a:tcPr marL="76297" marR="76297" marT="38148" marB="381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 b="1" err="1"/>
                        <a:t>SingleStore</a:t>
                      </a:r>
                    </a:p>
                  </a:txBody>
                  <a:tcPr marL="76297" marR="76297" marT="38148" marB="38148" anchor="ctr"/>
                </a:tc>
                <a:extLst>
                  <a:ext uri="{0D108BD9-81ED-4DB2-BD59-A6C34878D82A}">
                    <a16:rowId xmlns:a16="http://schemas.microsoft.com/office/drawing/2014/main" val="1739384444"/>
                  </a:ext>
                </a:extLst>
              </a:tr>
              <a:tr h="335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 err="1"/>
                        <a:t>Primary</a:t>
                      </a:r>
                      <a:r>
                        <a:rPr lang="es-ES" sz="1500"/>
                        <a:t> Role</a:t>
                      </a:r>
                    </a:p>
                  </a:txBody>
                  <a:tcPr marL="76297" marR="76297" marT="38148" marB="381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/>
                        <a:t>OLTP</a:t>
                      </a:r>
                    </a:p>
                  </a:txBody>
                  <a:tcPr marL="76297" marR="76297" marT="38148" marB="381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 err="1"/>
                        <a:t>Ingestion</a:t>
                      </a:r>
                    </a:p>
                  </a:txBody>
                  <a:tcPr marL="76297" marR="76297" marT="38148" marB="381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/>
                        <a:t>HTAP</a:t>
                      </a:r>
                    </a:p>
                  </a:txBody>
                  <a:tcPr marL="76297" marR="76297" marT="38148" marB="38148" anchor="ctr"/>
                </a:tc>
                <a:extLst>
                  <a:ext uri="{0D108BD9-81ED-4DB2-BD59-A6C34878D82A}">
                    <a16:rowId xmlns:a16="http://schemas.microsoft.com/office/drawing/2014/main" val="1897024554"/>
                  </a:ext>
                </a:extLst>
              </a:tr>
              <a:tr h="335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/>
                        <a:t>CAP</a:t>
                      </a:r>
                    </a:p>
                  </a:txBody>
                  <a:tcPr marL="76297" marR="76297" marT="38148" marB="381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/>
                        <a:t>CP</a:t>
                      </a:r>
                    </a:p>
                  </a:txBody>
                  <a:tcPr marL="76297" marR="76297" marT="38148" marB="381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/>
                        <a:t>AP</a:t>
                      </a:r>
                    </a:p>
                  </a:txBody>
                  <a:tcPr marL="76297" marR="76297" marT="38148" marB="381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/>
                        <a:t>CP</a:t>
                      </a:r>
                    </a:p>
                  </a:txBody>
                  <a:tcPr marL="76297" marR="76297" marT="38148" marB="38148" anchor="ctr"/>
                </a:tc>
                <a:extLst>
                  <a:ext uri="{0D108BD9-81ED-4DB2-BD59-A6C34878D82A}">
                    <a16:rowId xmlns:a16="http://schemas.microsoft.com/office/drawing/2014/main" val="3774651624"/>
                  </a:ext>
                </a:extLst>
              </a:tr>
              <a:tr h="335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 err="1"/>
                        <a:t>Consistency</a:t>
                      </a:r>
                    </a:p>
                  </a:txBody>
                  <a:tcPr marL="76297" marR="76297" marT="38148" marB="381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 err="1"/>
                        <a:t>Strong</a:t>
                      </a:r>
                    </a:p>
                  </a:txBody>
                  <a:tcPr marL="76297" marR="76297" marT="38148" marB="381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/>
                        <a:t>Eventual</a:t>
                      </a:r>
                    </a:p>
                  </a:txBody>
                  <a:tcPr marL="76297" marR="76297" marT="38148" marB="381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 err="1"/>
                        <a:t>Strong</a:t>
                      </a:r>
                    </a:p>
                  </a:txBody>
                  <a:tcPr marL="76297" marR="76297" marT="38148" marB="38148" anchor="ctr"/>
                </a:tc>
                <a:extLst>
                  <a:ext uri="{0D108BD9-81ED-4DB2-BD59-A6C34878D82A}">
                    <a16:rowId xmlns:a16="http://schemas.microsoft.com/office/drawing/2014/main" val="2496113191"/>
                  </a:ext>
                </a:extLst>
              </a:tr>
              <a:tr h="335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 err="1"/>
                        <a:t>Sharding</a:t>
                      </a:r>
                    </a:p>
                  </a:txBody>
                  <a:tcPr marL="76297" marR="76297" marT="38148" marB="381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/>
                        <a:t>Manual</a:t>
                      </a:r>
                    </a:p>
                  </a:txBody>
                  <a:tcPr marL="76297" marR="76297" marT="38148" marB="381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/>
                        <a:t>Auto</a:t>
                      </a:r>
                    </a:p>
                  </a:txBody>
                  <a:tcPr marL="76297" marR="76297" marT="38148" marB="381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/>
                        <a:t>Auto</a:t>
                      </a:r>
                    </a:p>
                  </a:txBody>
                  <a:tcPr marL="76297" marR="76297" marT="38148" marB="38148" anchor="ctr"/>
                </a:tc>
                <a:extLst>
                  <a:ext uri="{0D108BD9-81ED-4DB2-BD59-A6C34878D82A}">
                    <a16:rowId xmlns:a16="http://schemas.microsoft.com/office/drawing/2014/main" val="169202582"/>
                  </a:ext>
                </a:extLst>
              </a:tr>
              <a:tr h="335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/>
                        <a:t>SQL </a:t>
                      </a:r>
                      <a:r>
                        <a:rPr lang="es-ES" sz="1500" err="1"/>
                        <a:t>Support</a:t>
                      </a:r>
                    </a:p>
                  </a:txBody>
                  <a:tcPr marL="76297" marR="76297" marT="38148" marB="381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/>
                        <a:t>Full SQL</a:t>
                      </a:r>
                    </a:p>
                  </a:txBody>
                  <a:tcPr marL="76297" marR="76297" marT="38148" marB="381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/>
                        <a:t>No </a:t>
                      </a:r>
                      <a:r>
                        <a:rPr lang="es-ES" sz="1500" err="1"/>
                        <a:t>JOINs</a:t>
                      </a:r>
                    </a:p>
                  </a:txBody>
                  <a:tcPr marL="76297" marR="76297" marT="38148" marB="381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/>
                        <a:t>Full SQL</a:t>
                      </a:r>
                    </a:p>
                  </a:txBody>
                  <a:tcPr marL="76297" marR="76297" marT="38148" marB="38148" anchor="ctr"/>
                </a:tc>
                <a:extLst>
                  <a:ext uri="{0D108BD9-81ED-4DB2-BD59-A6C34878D82A}">
                    <a16:rowId xmlns:a16="http://schemas.microsoft.com/office/drawing/2014/main" val="564205526"/>
                  </a:ext>
                </a:extLst>
              </a:tr>
              <a:tr h="335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/>
                        <a:t>ETL </a:t>
                      </a:r>
                      <a:r>
                        <a:rPr lang="es-ES" sz="1500" err="1"/>
                        <a:t>Needed</a:t>
                      </a:r>
                    </a:p>
                  </a:txBody>
                  <a:tcPr marL="76297" marR="76297" marT="38148" marB="381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/>
                        <a:t>Yes</a:t>
                      </a:r>
                    </a:p>
                  </a:txBody>
                  <a:tcPr marL="76297" marR="76297" marT="38148" marB="381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/>
                        <a:t>Yes</a:t>
                      </a:r>
                    </a:p>
                  </a:txBody>
                  <a:tcPr marL="76297" marR="76297" marT="38148" marB="381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/>
                        <a:t>❌ No</a:t>
                      </a:r>
                    </a:p>
                  </a:txBody>
                  <a:tcPr marL="76297" marR="76297" marT="38148" marB="38148" anchor="ctr"/>
                </a:tc>
                <a:extLst>
                  <a:ext uri="{0D108BD9-81ED-4DB2-BD59-A6C34878D82A}">
                    <a16:rowId xmlns:a16="http://schemas.microsoft.com/office/drawing/2014/main" val="3258398779"/>
                  </a:ext>
                </a:extLst>
              </a:tr>
              <a:tr h="335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 err="1"/>
                        <a:t>Analytics</a:t>
                      </a:r>
                    </a:p>
                  </a:txBody>
                  <a:tcPr marL="76297" marR="76297" marT="38148" marB="381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 err="1"/>
                        <a:t>Slow</a:t>
                      </a:r>
                    </a:p>
                  </a:txBody>
                  <a:tcPr marL="76297" marR="76297" marT="38148" marB="381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/>
                        <a:t>Poor</a:t>
                      </a:r>
                    </a:p>
                  </a:txBody>
                  <a:tcPr marL="76297" marR="76297" marT="38148" marB="381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 err="1"/>
                        <a:t>Fast</a:t>
                      </a:r>
                    </a:p>
                  </a:txBody>
                  <a:tcPr marL="76297" marR="76297" marT="38148" marB="38148" anchor="ctr"/>
                </a:tc>
                <a:extLst>
                  <a:ext uri="{0D108BD9-81ED-4DB2-BD59-A6C34878D82A}">
                    <a16:rowId xmlns:a16="http://schemas.microsoft.com/office/drawing/2014/main" val="1239155450"/>
                  </a:ext>
                </a:extLst>
              </a:tr>
              <a:tr h="335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 err="1"/>
                        <a:t>Write</a:t>
                      </a:r>
                      <a:r>
                        <a:rPr lang="es-ES" sz="1500"/>
                        <a:t> </a:t>
                      </a:r>
                      <a:r>
                        <a:rPr lang="es-ES" sz="1500" err="1"/>
                        <a:t>Speed</a:t>
                      </a:r>
                    </a:p>
                  </a:txBody>
                  <a:tcPr marL="76297" marR="76297" marT="38148" marB="381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/>
                        <a:t>Medium</a:t>
                      </a:r>
                    </a:p>
                  </a:txBody>
                  <a:tcPr marL="76297" marR="76297" marT="38148" marB="381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 err="1"/>
                        <a:t>Very</a:t>
                      </a:r>
                      <a:r>
                        <a:rPr lang="es-ES" sz="1500"/>
                        <a:t> </a:t>
                      </a:r>
                      <a:r>
                        <a:rPr lang="es-ES" sz="1500" err="1"/>
                        <a:t>Fast</a:t>
                      </a:r>
                    </a:p>
                  </a:txBody>
                  <a:tcPr marL="76297" marR="76297" marT="38148" marB="381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 err="1"/>
                        <a:t>Fast</a:t>
                      </a:r>
                    </a:p>
                  </a:txBody>
                  <a:tcPr marL="76297" marR="76297" marT="38148" marB="38148" anchor="ctr"/>
                </a:tc>
                <a:extLst>
                  <a:ext uri="{0D108BD9-81ED-4DB2-BD59-A6C34878D82A}">
                    <a16:rowId xmlns:a16="http://schemas.microsoft.com/office/drawing/2014/main" val="23352134"/>
                  </a:ext>
                </a:extLst>
              </a:tr>
              <a:tr h="335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 err="1"/>
                        <a:t>Cost</a:t>
                      </a:r>
                    </a:p>
                  </a:txBody>
                  <a:tcPr marL="76297" marR="76297" marT="38148" marB="381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/>
                        <a:t>Free</a:t>
                      </a:r>
                    </a:p>
                  </a:txBody>
                  <a:tcPr marL="76297" marR="76297" marT="38148" marB="381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/>
                        <a:t>Free</a:t>
                      </a:r>
                    </a:p>
                  </a:txBody>
                  <a:tcPr marL="76297" marR="76297" marT="38148" marB="381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 err="1"/>
                        <a:t>Expensive</a:t>
                      </a:r>
                    </a:p>
                  </a:txBody>
                  <a:tcPr marL="76297" marR="76297" marT="38148" marB="38148" anchor="ctr"/>
                </a:tc>
                <a:extLst>
                  <a:ext uri="{0D108BD9-81ED-4DB2-BD59-A6C34878D82A}">
                    <a16:rowId xmlns:a16="http://schemas.microsoft.com/office/drawing/2014/main" val="2725302898"/>
                  </a:ext>
                </a:extLst>
              </a:tr>
              <a:tr h="335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/>
                        <a:t>HA</a:t>
                      </a:r>
                    </a:p>
                  </a:txBody>
                  <a:tcPr marL="76297" marR="76297" marT="38148" marB="381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 err="1"/>
                        <a:t>Primary-standby</a:t>
                      </a:r>
                    </a:p>
                  </a:txBody>
                  <a:tcPr marL="76297" marR="76297" marT="38148" marB="381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 err="1"/>
                        <a:t>Leaderless</a:t>
                      </a:r>
                    </a:p>
                  </a:txBody>
                  <a:tcPr marL="76297" marR="76297" marT="38148" marB="381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500" err="1"/>
                        <a:t>Sync</a:t>
                      </a:r>
                    </a:p>
                  </a:txBody>
                  <a:tcPr marL="76297" marR="76297" marT="38148" marB="38148" anchor="ctr"/>
                </a:tc>
                <a:extLst>
                  <a:ext uri="{0D108BD9-81ED-4DB2-BD59-A6C34878D82A}">
                    <a16:rowId xmlns:a16="http://schemas.microsoft.com/office/drawing/2014/main" val="12305879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97874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7C59BEC-C4CC-4741-B975-08C543178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72DEF309-605D-4117-9340-6D589B6C3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86173" flipV="1">
            <a:off x="3930947" y="651615"/>
            <a:ext cx="4083433" cy="408343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41C18D0-3388-F0F7-28FE-0DED2E682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20703" cy="1351838"/>
          </a:xfrm>
        </p:spPr>
        <p:txBody>
          <a:bodyPr>
            <a:normAutofit/>
          </a:bodyPr>
          <a:lstStyle/>
          <a:p>
            <a:r>
              <a:rPr lang="es-ES" err="1">
                <a:latin typeface="Aptos Display"/>
              </a:rPr>
              <a:t>Conclusion</a:t>
            </a:r>
            <a:r>
              <a:rPr lang="es-ES">
                <a:latin typeface="Aptos Display"/>
              </a:rPr>
              <a:t> — </a:t>
            </a:r>
            <a:r>
              <a:rPr lang="es-ES" err="1">
                <a:latin typeface="Aptos Display"/>
              </a:rPr>
              <a:t>When</a:t>
            </a:r>
            <a:r>
              <a:rPr lang="es-ES">
                <a:latin typeface="Aptos Display"/>
              </a:rPr>
              <a:t> </a:t>
            </a:r>
            <a:r>
              <a:rPr lang="es-ES" err="1">
                <a:latin typeface="Aptos Display"/>
              </a:rPr>
              <a:t>Should</a:t>
            </a:r>
            <a:r>
              <a:rPr lang="es-ES">
                <a:latin typeface="Aptos Display"/>
              </a:rPr>
              <a:t> </a:t>
            </a:r>
            <a:r>
              <a:rPr lang="es-ES" err="1">
                <a:latin typeface="Aptos Display"/>
              </a:rPr>
              <a:t>You</a:t>
            </a:r>
            <a:r>
              <a:rPr lang="es-ES">
                <a:latin typeface="Aptos Display"/>
              </a:rPr>
              <a:t> Use SingleStore?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ECAF1D-BDE4-B4D5-12BE-D51969BD12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93361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z="1800" b="1" err="1"/>
              <a:t>Avoid</a:t>
            </a:r>
            <a:r>
              <a:rPr lang="es-ES" sz="1800" b="1"/>
              <a:t> </a:t>
            </a:r>
            <a:r>
              <a:rPr lang="es-ES" sz="1800" b="1" err="1"/>
              <a:t>SingleStore</a:t>
            </a:r>
            <a:r>
              <a:rPr lang="es-ES" sz="1800" b="1"/>
              <a:t> </a:t>
            </a:r>
            <a:r>
              <a:rPr lang="es-ES" sz="1800" b="1" err="1"/>
              <a:t>When</a:t>
            </a:r>
            <a:r>
              <a:rPr lang="es-ES" sz="1800" b="1"/>
              <a:t>:</a:t>
            </a:r>
          </a:p>
          <a:p>
            <a:r>
              <a:rPr lang="es-ES" sz="1800" err="1">
                <a:ea typeface="+mn-lt"/>
                <a:cs typeface="+mn-lt"/>
              </a:rPr>
              <a:t>Cost</a:t>
            </a:r>
            <a:r>
              <a:rPr lang="es-ES" sz="1800">
                <a:ea typeface="+mn-lt"/>
                <a:cs typeface="+mn-lt"/>
              </a:rPr>
              <a:t> </a:t>
            </a:r>
            <a:r>
              <a:rPr lang="es-ES" sz="1800" err="1">
                <a:ea typeface="+mn-lt"/>
                <a:cs typeface="+mn-lt"/>
              </a:rPr>
              <a:t>is</a:t>
            </a:r>
            <a:r>
              <a:rPr lang="es-ES" sz="1800">
                <a:ea typeface="+mn-lt"/>
                <a:cs typeface="+mn-lt"/>
              </a:rPr>
              <a:t> a </a:t>
            </a:r>
            <a:r>
              <a:rPr lang="es-ES" sz="1800" err="1">
                <a:ea typeface="+mn-lt"/>
                <a:cs typeface="+mn-lt"/>
              </a:rPr>
              <a:t>constraint</a:t>
            </a:r>
            <a:br>
              <a:rPr lang="es-ES" sz="1800">
                <a:ea typeface="+mn-lt"/>
                <a:cs typeface="+mn-lt"/>
              </a:rPr>
            </a:br>
            <a:r>
              <a:rPr lang="es-ES" sz="1800">
                <a:ea typeface="+mn-lt"/>
                <a:cs typeface="+mn-lt"/>
              </a:rPr>
              <a:t>→ Open-</a:t>
            </a:r>
            <a:r>
              <a:rPr lang="es-ES" sz="1800" err="1">
                <a:ea typeface="+mn-lt"/>
                <a:cs typeface="+mn-lt"/>
              </a:rPr>
              <a:t>source</a:t>
            </a:r>
            <a:r>
              <a:rPr lang="es-ES" sz="1800">
                <a:ea typeface="+mn-lt"/>
                <a:cs typeface="+mn-lt"/>
              </a:rPr>
              <a:t> </a:t>
            </a:r>
            <a:r>
              <a:rPr lang="es-ES" sz="1800" err="1">
                <a:ea typeface="+mn-lt"/>
                <a:cs typeface="+mn-lt"/>
              </a:rPr>
              <a:t>options</a:t>
            </a:r>
            <a:r>
              <a:rPr lang="es-ES" sz="1800">
                <a:ea typeface="+mn-lt"/>
                <a:cs typeface="+mn-lt"/>
              </a:rPr>
              <a:t> (</a:t>
            </a:r>
            <a:r>
              <a:rPr lang="es-ES" sz="1800" err="1">
                <a:ea typeface="+mn-lt"/>
                <a:cs typeface="+mn-lt"/>
              </a:rPr>
              <a:t>e.g</a:t>
            </a:r>
            <a:r>
              <a:rPr lang="es-ES" sz="1800">
                <a:ea typeface="+mn-lt"/>
                <a:cs typeface="+mn-lt"/>
              </a:rPr>
              <a:t>., </a:t>
            </a:r>
            <a:r>
              <a:rPr lang="es-ES" sz="1800" err="1">
                <a:ea typeface="+mn-lt"/>
                <a:cs typeface="+mn-lt"/>
              </a:rPr>
              <a:t>CockroachDB</a:t>
            </a:r>
            <a:r>
              <a:rPr lang="es-ES" sz="1800">
                <a:ea typeface="+mn-lt"/>
                <a:cs typeface="+mn-lt"/>
              </a:rPr>
              <a:t>, </a:t>
            </a:r>
            <a:r>
              <a:rPr lang="es-ES" sz="1800" err="1">
                <a:ea typeface="+mn-lt"/>
                <a:cs typeface="+mn-lt"/>
              </a:rPr>
              <a:t>YugabyteDB</a:t>
            </a:r>
            <a:r>
              <a:rPr lang="es-ES" sz="1800">
                <a:ea typeface="+mn-lt"/>
                <a:cs typeface="+mn-lt"/>
              </a:rPr>
              <a:t>) </a:t>
            </a:r>
            <a:r>
              <a:rPr lang="es-ES" sz="1800" err="1">
                <a:ea typeface="+mn-lt"/>
                <a:cs typeface="+mn-lt"/>
              </a:rPr>
              <a:t>may</a:t>
            </a:r>
            <a:r>
              <a:rPr lang="es-ES" sz="1800">
                <a:ea typeface="+mn-lt"/>
                <a:cs typeface="+mn-lt"/>
              </a:rPr>
              <a:t> be more </a:t>
            </a:r>
            <a:r>
              <a:rPr lang="es-ES" sz="1800" err="1">
                <a:ea typeface="+mn-lt"/>
                <a:cs typeface="+mn-lt"/>
              </a:rPr>
              <a:t>suitable</a:t>
            </a:r>
            <a:endParaRPr lang="es-ES" sz="1800" err="1"/>
          </a:p>
          <a:p>
            <a:r>
              <a:rPr lang="es-ES" sz="1800" err="1">
                <a:ea typeface="+mn-lt"/>
                <a:cs typeface="+mn-lt"/>
              </a:rPr>
              <a:t>You</a:t>
            </a:r>
            <a:r>
              <a:rPr lang="es-ES" sz="1800">
                <a:ea typeface="+mn-lt"/>
                <a:cs typeface="+mn-lt"/>
              </a:rPr>
              <a:t> </a:t>
            </a:r>
            <a:r>
              <a:rPr lang="es-ES" sz="1800" err="1">
                <a:ea typeface="+mn-lt"/>
                <a:cs typeface="+mn-lt"/>
              </a:rPr>
              <a:t>need</a:t>
            </a:r>
            <a:r>
              <a:rPr lang="es-ES" sz="1800">
                <a:ea typeface="+mn-lt"/>
                <a:cs typeface="+mn-lt"/>
              </a:rPr>
              <a:t> </a:t>
            </a:r>
            <a:r>
              <a:rPr lang="es-ES" sz="1800" err="1">
                <a:ea typeface="+mn-lt"/>
                <a:cs typeface="+mn-lt"/>
              </a:rPr>
              <a:t>always-available</a:t>
            </a:r>
            <a:r>
              <a:rPr lang="es-ES" sz="1800">
                <a:ea typeface="+mn-lt"/>
                <a:cs typeface="+mn-lt"/>
              </a:rPr>
              <a:t> </a:t>
            </a:r>
            <a:r>
              <a:rPr lang="es-ES" sz="1800" err="1">
                <a:ea typeface="+mn-lt"/>
                <a:cs typeface="+mn-lt"/>
              </a:rPr>
              <a:t>writes</a:t>
            </a:r>
            <a:r>
              <a:rPr lang="es-ES" sz="1800">
                <a:ea typeface="+mn-lt"/>
                <a:cs typeface="+mn-lt"/>
              </a:rPr>
              <a:t> (AP </a:t>
            </a:r>
            <a:r>
              <a:rPr lang="es-ES" sz="1800" err="1">
                <a:ea typeface="+mn-lt"/>
                <a:cs typeface="+mn-lt"/>
              </a:rPr>
              <a:t>model</a:t>
            </a:r>
            <a:r>
              <a:rPr lang="es-ES" sz="1800">
                <a:ea typeface="+mn-lt"/>
                <a:cs typeface="+mn-lt"/>
              </a:rPr>
              <a:t>)</a:t>
            </a:r>
            <a:br>
              <a:rPr lang="es-ES" sz="1800">
                <a:ea typeface="+mn-lt"/>
                <a:cs typeface="+mn-lt"/>
              </a:rPr>
            </a:br>
            <a:r>
              <a:rPr lang="es-ES" sz="1800">
                <a:ea typeface="+mn-lt"/>
                <a:cs typeface="+mn-lt"/>
              </a:rPr>
              <a:t>→ </a:t>
            </a:r>
            <a:r>
              <a:rPr lang="es-ES" sz="1800" err="1">
                <a:ea typeface="+mn-lt"/>
                <a:cs typeface="+mn-lt"/>
              </a:rPr>
              <a:t>e.g</a:t>
            </a:r>
            <a:r>
              <a:rPr lang="es-ES" sz="1800">
                <a:ea typeface="+mn-lt"/>
                <a:cs typeface="+mn-lt"/>
              </a:rPr>
              <a:t>., </a:t>
            </a:r>
            <a:r>
              <a:rPr lang="es-ES" sz="1800" err="1">
                <a:ea typeface="+mn-lt"/>
                <a:cs typeface="+mn-lt"/>
              </a:rPr>
              <a:t>Cassandra</a:t>
            </a:r>
            <a:r>
              <a:rPr lang="es-ES" sz="1800">
                <a:ea typeface="+mn-lt"/>
                <a:cs typeface="+mn-lt"/>
              </a:rPr>
              <a:t> </a:t>
            </a:r>
            <a:r>
              <a:rPr lang="es-ES" sz="1800" err="1">
                <a:ea typeface="+mn-lt"/>
                <a:cs typeface="+mn-lt"/>
              </a:rPr>
              <a:t>during</a:t>
            </a:r>
            <a:r>
              <a:rPr lang="es-ES" sz="1800">
                <a:ea typeface="+mn-lt"/>
                <a:cs typeface="+mn-lt"/>
              </a:rPr>
              <a:t> </a:t>
            </a:r>
            <a:r>
              <a:rPr lang="es-ES" sz="1800" err="1">
                <a:ea typeface="+mn-lt"/>
                <a:cs typeface="+mn-lt"/>
              </a:rPr>
              <a:t>network</a:t>
            </a:r>
            <a:r>
              <a:rPr lang="es-ES" sz="1800">
                <a:ea typeface="+mn-lt"/>
                <a:cs typeface="+mn-lt"/>
              </a:rPr>
              <a:t> </a:t>
            </a:r>
            <a:r>
              <a:rPr lang="es-ES" sz="1800" err="1">
                <a:ea typeface="+mn-lt"/>
                <a:cs typeface="+mn-lt"/>
              </a:rPr>
              <a:t>partitions</a:t>
            </a:r>
            <a:endParaRPr lang="es-ES" sz="1800" err="1"/>
          </a:p>
          <a:p>
            <a:r>
              <a:rPr lang="es-ES" sz="1800" b="1">
                <a:ea typeface="+mn-lt"/>
                <a:cs typeface="+mn-lt"/>
              </a:rPr>
              <a:t>Hardware </a:t>
            </a:r>
            <a:r>
              <a:rPr lang="es-ES" sz="1800" b="1" err="1">
                <a:ea typeface="+mn-lt"/>
                <a:cs typeface="+mn-lt"/>
              </a:rPr>
              <a:t>limitations</a:t>
            </a:r>
            <a:br>
              <a:rPr lang="es-ES" sz="1800" b="1">
                <a:ea typeface="+mn-lt"/>
                <a:cs typeface="+mn-lt"/>
              </a:rPr>
            </a:br>
            <a:r>
              <a:rPr lang="es-ES" sz="1800">
                <a:ea typeface="+mn-lt"/>
                <a:cs typeface="+mn-lt"/>
              </a:rPr>
              <a:t>→ </a:t>
            </a:r>
            <a:r>
              <a:rPr lang="es-ES" sz="1800" err="1">
                <a:ea typeface="+mn-lt"/>
                <a:cs typeface="+mn-lt"/>
              </a:rPr>
              <a:t>In-memory</a:t>
            </a:r>
            <a:r>
              <a:rPr lang="es-ES" sz="1800">
                <a:ea typeface="+mn-lt"/>
                <a:cs typeface="+mn-lt"/>
              </a:rPr>
              <a:t> </a:t>
            </a:r>
            <a:r>
              <a:rPr lang="es-ES" sz="1800" err="1">
                <a:ea typeface="+mn-lt"/>
                <a:cs typeface="+mn-lt"/>
              </a:rPr>
              <a:t>rowstore</a:t>
            </a:r>
            <a:r>
              <a:rPr lang="es-ES" sz="1800">
                <a:ea typeface="+mn-lt"/>
                <a:cs typeface="+mn-lt"/>
              </a:rPr>
              <a:t> </a:t>
            </a:r>
            <a:r>
              <a:rPr lang="es-ES" sz="1800" err="1">
                <a:ea typeface="+mn-lt"/>
                <a:cs typeface="+mn-lt"/>
              </a:rPr>
              <a:t>requires</a:t>
            </a:r>
            <a:r>
              <a:rPr lang="es-ES" sz="1800">
                <a:ea typeface="+mn-lt"/>
                <a:cs typeface="+mn-lt"/>
              </a:rPr>
              <a:t> </a:t>
            </a:r>
            <a:r>
              <a:rPr lang="es-ES" sz="1800" err="1">
                <a:ea typeface="+mn-lt"/>
                <a:cs typeface="+mn-lt"/>
              </a:rPr>
              <a:t>strong</a:t>
            </a:r>
            <a:r>
              <a:rPr lang="es-ES" sz="1800">
                <a:ea typeface="+mn-lt"/>
                <a:cs typeface="+mn-lt"/>
              </a:rPr>
              <a:t> </a:t>
            </a:r>
            <a:r>
              <a:rPr lang="es-ES" sz="1800" err="1">
                <a:ea typeface="+mn-lt"/>
                <a:cs typeface="+mn-lt"/>
              </a:rPr>
              <a:t>infrastructure</a:t>
            </a:r>
            <a:endParaRPr lang="es-ES" sz="1800" err="1"/>
          </a:p>
          <a:p>
            <a:r>
              <a:rPr lang="es-ES" sz="1800" b="1">
                <a:ea typeface="+mn-lt"/>
                <a:cs typeface="+mn-lt"/>
              </a:rPr>
              <a:t>Pure OLTP </a:t>
            </a:r>
            <a:r>
              <a:rPr lang="es-ES" sz="1800" b="1" err="1">
                <a:ea typeface="+mn-lt"/>
                <a:cs typeface="+mn-lt"/>
              </a:rPr>
              <a:t>workload</a:t>
            </a:r>
            <a:br>
              <a:rPr lang="es-ES" sz="1800" b="1">
                <a:ea typeface="+mn-lt"/>
                <a:cs typeface="+mn-lt"/>
              </a:rPr>
            </a:br>
            <a:r>
              <a:rPr lang="es-ES" sz="1800">
                <a:ea typeface="+mn-lt"/>
                <a:cs typeface="+mn-lt"/>
              </a:rPr>
              <a:t>→ </a:t>
            </a:r>
            <a:r>
              <a:rPr lang="es-ES" sz="1800" err="1">
                <a:ea typeface="+mn-lt"/>
                <a:cs typeface="+mn-lt"/>
              </a:rPr>
              <a:t>Simpler</a:t>
            </a:r>
            <a:r>
              <a:rPr lang="es-ES" sz="1800">
                <a:ea typeface="+mn-lt"/>
                <a:cs typeface="+mn-lt"/>
              </a:rPr>
              <a:t> </a:t>
            </a:r>
            <a:r>
              <a:rPr lang="es-ES" sz="1800" err="1">
                <a:ea typeface="+mn-lt"/>
                <a:cs typeface="+mn-lt"/>
              </a:rPr>
              <a:t>databases</a:t>
            </a:r>
            <a:r>
              <a:rPr lang="es-ES" sz="1800">
                <a:ea typeface="+mn-lt"/>
                <a:cs typeface="+mn-lt"/>
              </a:rPr>
              <a:t> can </a:t>
            </a:r>
            <a:r>
              <a:rPr lang="es-ES" sz="1800" err="1">
                <a:ea typeface="+mn-lt"/>
                <a:cs typeface="+mn-lt"/>
              </a:rPr>
              <a:t>handle</a:t>
            </a:r>
            <a:r>
              <a:rPr lang="es-ES" sz="1800">
                <a:ea typeface="+mn-lt"/>
                <a:cs typeface="+mn-lt"/>
              </a:rPr>
              <a:t> </a:t>
            </a:r>
            <a:r>
              <a:rPr lang="es-ES" sz="1800" err="1">
                <a:ea typeface="+mn-lt"/>
                <a:cs typeface="+mn-lt"/>
              </a:rPr>
              <a:t>this</a:t>
            </a:r>
            <a:r>
              <a:rPr lang="es-ES" sz="1800">
                <a:ea typeface="+mn-lt"/>
                <a:cs typeface="+mn-lt"/>
              </a:rPr>
              <a:t> more </a:t>
            </a:r>
            <a:r>
              <a:rPr lang="es-ES" sz="1800" err="1">
                <a:ea typeface="+mn-lt"/>
                <a:cs typeface="+mn-lt"/>
              </a:rPr>
              <a:t>efficiently</a:t>
            </a:r>
            <a:endParaRPr lang="es-ES" sz="1800" err="1"/>
          </a:p>
          <a:p>
            <a:pPr marL="0" indent="0">
              <a:buNone/>
            </a:pPr>
            <a:r>
              <a:rPr lang="es-ES" sz="1800">
                <a:ea typeface="+mn-lt"/>
                <a:cs typeface="+mn-lt"/>
              </a:rPr>
              <a:t>     </a:t>
            </a:r>
            <a:r>
              <a:rPr lang="es-ES" sz="1800" err="1">
                <a:ea typeface="+mn-lt"/>
                <a:cs typeface="+mn-lt"/>
              </a:rPr>
              <a:t>Need</a:t>
            </a:r>
            <a:r>
              <a:rPr lang="es-ES" sz="1800">
                <a:ea typeface="+mn-lt"/>
                <a:cs typeface="+mn-lt"/>
              </a:rPr>
              <a:t> SERIALIZABLE </a:t>
            </a:r>
            <a:r>
              <a:rPr lang="es-ES" sz="1800" err="1">
                <a:ea typeface="+mn-lt"/>
                <a:cs typeface="+mn-lt"/>
              </a:rPr>
              <a:t>isolation</a:t>
            </a:r>
            <a:r>
              <a:rPr lang="es-ES" sz="1800">
                <a:ea typeface="+mn-lt"/>
                <a:cs typeface="+mn-lt"/>
              </a:rPr>
              <a:t> (</a:t>
            </a:r>
            <a:r>
              <a:rPr lang="es-ES" sz="1800" err="1">
                <a:ea typeface="+mn-lt"/>
                <a:cs typeface="+mn-lt"/>
              </a:rPr>
              <a:t>distributed</a:t>
            </a:r>
            <a:r>
              <a:rPr lang="es-ES" sz="1800">
                <a:ea typeface="+mn-lt"/>
                <a:cs typeface="+mn-lt"/>
              </a:rPr>
              <a:t>)</a:t>
            </a:r>
            <a:br>
              <a:rPr lang="es-ES" sz="1800">
                <a:ea typeface="+mn-lt"/>
                <a:cs typeface="+mn-lt"/>
              </a:rPr>
            </a:br>
            <a:r>
              <a:rPr lang="es-ES" sz="1800">
                <a:ea typeface="+mn-lt"/>
                <a:cs typeface="+mn-lt"/>
              </a:rPr>
              <a:t>       → </a:t>
            </a:r>
            <a:r>
              <a:rPr lang="es-ES" sz="1800" err="1">
                <a:ea typeface="+mn-lt"/>
                <a:cs typeface="+mn-lt"/>
              </a:rPr>
              <a:t>Not</a:t>
            </a:r>
            <a:r>
              <a:rPr lang="es-ES" sz="1800">
                <a:ea typeface="+mn-lt"/>
                <a:cs typeface="+mn-lt"/>
              </a:rPr>
              <a:t> </a:t>
            </a:r>
            <a:r>
              <a:rPr lang="es-ES" sz="1800" err="1">
                <a:ea typeface="+mn-lt"/>
                <a:cs typeface="+mn-lt"/>
              </a:rPr>
              <a:t>supported</a:t>
            </a:r>
            <a:r>
              <a:rPr lang="es-ES" sz="1800">
                <a:ea typeface="+mn-lt"/>
                <a:cs typeface="+mn-lt"/>
              </a:rPr>
              <a:t> </a:t>
            </a:r>
            <a:r>
              <a:rPr lang="es-ES" sz="1800" err="1">
                <a:ea typeface="+mn-lt"/>
                <a:cs typeface="+mn-lt"/>
              </a:rPr>
              <a:t>cluster-wide</a:t>
            </a:r>
            <a:endParaRPr lang="es-ES" sz="1800" err="1"/>
          </a:p>
          <a:p>
            <a:endParaRPr lang="es-ES" sz="180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77008" y="5228027"/>
            <a:ext cx="1107241" cy="10772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n 3" descr="Diagrama&#10;&#10;El contenido generado por IA puede ser incorrecto.">
            <a:extLst>
              <a:ext uri="{FF2B5EF4-FFF2-40B4-BE49-F238E27FC236}">
                <a16:creationId xmlns:a16="http://schemas.microsoft.com/office/drawing/2014/main" id="{AAA66791-E0B1-2777-E8E0-7052605CB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9044" y="1847506"/>
            <a:ext cx="4142515" cy="4303912"/>
          </a:xfrm>
          <a:custGeom>
            <a:avLst/>
            <a:gdLst/>
            <a:ahLst/>
            <a:cxnLst/>
            <a:rect l="l" t="t" r="r" b="b"/>
            <a:pathLst>
              <a:path w="4221597" h="4303912">
                <a:moveTo>
                  <a:pt x="126986" y="0"/>
                </a:moveTo>
                <a:lnTo>
                  <a:pt x="4094611" y="0"/>
                </a:lnTo>
                <a:cubicBezTo>
                  <a:pt x="4164743" y="0"/>
                  <a:pt x="4221597" y="56854"/>
                  <a:pt x="4221597" y="126986"/>
                </a:cubicBezTo>
                <a:lnTo>
                  <a:pt x="4221597" y="4176926"/>
                </a:lnTo>
                <a:cubicBezTo>
                  <a:pt x="4221597" y="4247058"/>
                  <a:pt x="4164743" y="4303912"/>
                  <a:pt x="4094611" y="4303912"/>
                </a:cubicBezTo>
                <a:lnTo>
                  <a:pt x="126986" y="4303912"/>
                </a:lnTo>
                <a:cubicBezTo>
                  <a:pt x="56854" y="4303912"/>
                  <a:pt x="0" y="4247058"/>
                  <a:pt x="0" y="4176926"/>
                </a:cubicBezTo>
                <a:lnTo>
                  <a:pt x="0" y="126986"/>
                </a:lnTo>
                <a:cubicBezTo>
                  <a:pt x="0" y="56854"/>
                  <a:pt x="56854" y="0"/>
                  <a:pt x="126986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368257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Panorámica</PresentationFormat>
  <Slides>14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5" baseType="lpstr">
      <vt:lpstr>Tema de Office</vt:lpstr>
      <vt:lpstr>SingleStore: Distributed SQL for the Real-Time Enterprise </vt:lpstr>
      <vt:lpstr>AGENDA </vt:lpstr>
      <vt:lpstr>What is SingleStore?</vt:lpstr>
      <vt:lpstr>Presentación de PowerPoint</vt:lpstr>
      <vt:lpstr>Who Built It — Who Uses It</vt:lpstr>
      <vt:lpstr>How SingleStore Distributes Data</vt:lpstr>
      <vt:lpstr>CAP Theorem — SingleStore as CP</vt:lpstr>
      <vt:lpstr>CAP Theorem — SingleStore as CP </vt:lpstr>
      <vt:lpstr>Scaling Model — Automatic vs Manual Sharding</vt:lpstr>
      <vt:lpstr>Presentación de PowerPoint</vt:lpstr>
      <vt:lpstr>SQL Compatibility &amp; Transactions</vt:lpstr>
      <vt:lpstr>Would SingleStore Replace TechRetail's Architecture? </vt:lpstr>
      <vt:lpstr>Would SingleStore Replace TechRetail's Architecture?</vt:lpstr>
      <vt:lpstr>Conclusion — When Should You Use SingleStore?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4</cp:revision>
  <dcterms:created xsi:type="dcterms:W3CDTF">2026-03-29T03:50:10Z</dcterms:created>
  <dcterms:modified xsi:type="dcterms:W3CDTF">2026-04-02T22:03:24Z</dcterms:modified>
</cp:coreProperties>
</file>